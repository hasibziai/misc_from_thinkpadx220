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1"/>
  </p:notesMasterIdLst>
  <p:sldIdLst>
    <p:sldId id="256" r:id="rId2"/>
    <p:sldId id="259" r:id="rId3"/>
    <p:sldId id="274" r:id="rId4"/>
    <p:sldId id="262" r:id="rId5"/>
    <p:sldId id="275" r:id="rId6"/>
    <p:sldId id="276" r:id="rId7"/>
    <p:sldId id="277" r:id="rId8"/>
    <p:sldId id="278" r:id="rId9"/>
    <p:sldId id="27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929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28" d="100"/>
          <a:sy n="128" d="100"/>
        </p:scale>
        <p:origin x="138" y="54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5C9C10-FD8A-44CA-ACAB-6E7AE76AA113}" type="datetimeFigureOut">
              <a:rPr lang="en-US" smtClean="0"/>
              <a:t>3/11/2020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ED3940-9F79-4301-A01F-D70539381C55}" type="slidenum">
              <a:rPr lang="en-US" smtClean="0"/>
              <a:t>‹#›</a:t>
            </a:fld>
            <a:endParaRPr lang="en-US" dirty="0"/>
          </a:p>
        </p:txBody>
      </p:sp>
    </p:spTree>
    <p:extLst>
      <p:ext uri="{BB962C8B-B14F-4D97-AF65-F5344CB8AC3E}">
        <p14:creationId xmlns:p14="http://schemas.microsoft.com/office/powerpoint/2010/main" val="935418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ED3940-9F79-4301-A01F-D70539381C55}" type="slidenum">
              <a:rPr lang="en-US" smtClean="0"/>
              <a:t>8</a:t>
            </a:fld>
            <a:endParaRPr lang="en-US" dirty="0"/>
          </a:p>
        </p:txBody>
      </p:sp>
    </p:spTree>
    <p:extLst>
      <p:ext uri="{BB962C8B-B14F-4D97-AF65-F5344CB8AC3E}">
        <p14:creationId xmlns:p14="http://schemas.microsoft.com/office/powerpoint/2010/main" val="294093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ED3940-9F79-4301-A01F-D70539381C55}" type="slidenum">
              <a:rPr lang="en-US" smtClean="0"/>
              <a:t>9</a:t>
            </a:fld>
            <a:endParaRPr lang="en-US" dirty="0"/>
          </a:p>
        </p:txBody>
      </p:sp>
    </p:spTree>
    <p:extLst>
      <p:ext uri="{BB962C8B-B14F-4D97-AF65-F5344CB8AC3E}">
        <p14:creationId xmlns:p14="http://schemas.microsoft.com/office/powerpoint/2010/main" val="1141057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26" name="Date Placeholder 25">
            <a:extLst>
              <a:ext uri="{FF2B5EF4-FFF2-40B4-BE49-F238E27FC236}">
                <a16:creationId xmlns:a16="http://schemas.microsoft.com/office/drawing/2014/main" id="{57D5C817-5CB5-4D4B-8472-4EF3EF55A589}"/>
              </a:ext>
            </a:extLst>
          </p:cNvPr>
          <p:cNvSpPr>
            <a:spLocks noGrp="1"/>
          </p:cNvSpPr>
          <p:nvPr>
            <p:ph type="dt" sz="half" idx="10"/>
          </p:nvPr>
        </p:nvSpPr>
        <p:spPr/>
        <p:txBody>
          <a:bodyPr/>
          <a:lstStyle/>
          <a:p>
            <a:r>
              <a:rPr lang="en-US"/>
              <a:t>Spring 2020</a:t>
            </a:r>
            <a:endParaRPr lang="en-US" dirty="0"/>
          </a:p>
        </p:txBody>
      </p:sp>
      <p:sp>
        <p:nvSpPr>
          <p:cNvPr id="27" name="Footer Placeholder 26">
            <a:extLst>
              <a:ext uri="{FF2B5EF4-FFF2-40B4-BE49-F238E27FC236}">
                <a16:creationId xmlns:a16="http://schemas.microsoft.com/office/drawing/2014/main" id="{5C441AB2-24EF-4E43-93BD-9941106F71DF}"/>
              </a:ext>
            </a:extLst>
          </p:cNvPr>
          <p:cNvSpPr>
            <a:spLocks noGrp="1"/>
          </p:cNvSpPr>
          <p:nvPr>
            <p:ph type="ftr" sz="quarter" idx="11"/>
          </p:nvPr>
        </p:nvSpPr>
        <p:spPr/>
        <p:txBody>
          <a:bodyPr/>
          <a:lstStyle/>
          <a:p>
            <a:r>
              <a:rPr lang="en-US" dirty="0"/>
              <a:t>CPSC 462  T. L. Bettens</a:t>
            </a:r>
          </a:p>
        </p:txBody>
      </p:sp>
      <p:sp>
        <p:nvSpPr>
          <p:cNvPr id="28" name="Slide Number Placeholder 27">
            <a:extLst>
              <a:ext uri="{FF2B5EF4-FFF2-40B4-BE49-F238E27FC236}">
                <a16:creationId xmlns:a16="http://schemas.microsoft.com/office/drawing/2014/main" id="{F6D10590-07B9-42B1-901B-4E1B46319F48}"/>
              </a:ext>
            </a:extLst>
          </p:cNvPr>
          <p:cNvSpPr>
            <a:spLocks noGrp="1"/>
          </p:cNvSpPr>
          <p:nvPr>
            <p:ph type="sldNum" sz="quarter" idx="12"/>
          </p:nvPr>
        </p:nvSpPr>
        <p:spPr/>
        <p:txBody>
          <a:bodyPr/>
          <a:lstStyle/>
          <a:p>
            <a:fld id="{7FAE0778-D8E2-4E97-B7E5-02EA3F4B7C62}"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Date Placeholder 16">
            <a:extLst>
              <a:ext uri="{FF2B5EF4-FFF2-40B4-BE49-F238E27FC236}">
                <a16:creationId xmlns:a16="http://schemas.microsoft.com/office/drawing/2014/main" id="{43C1206A-B83F-4DD2-A813-1927AA119890}"/>
              </a:ext>
            </a:extLst>
          </p:cNvPr>
          <p:cNvSpPr>
            <a:spLocks noGrp="1"/>
          </p:cNvSpPr>
          <p:nvPr>
            <p:ph type="dt" sz="half" idx="10"/>
          </p:nvPr>
        </p:nvSpPr>
        <p:spPr/>
        <p:txBody>
          <a:bodyPr/>
          <a:lstStyle/>
          <a:p>
            <a:r>
              <a:rPr lang="en-US"/>
              <a:t>Spring 2020</a:t>
            </a:r>
            <a:endParaRPr lang="en-US" dirty="0"/>
          </a:p>
        </p:txBody>
      </p:sp>
      <p:sp>
        <p:nvSpPr>
          <p:cNvPr id="18" name="Footer Placeholder 17">
            <a:extLst>
              <a:ext uri="{FF2B5EF4-FFF2-40B4-BE49-F238E27FC236}">
                <a16:creationId xmlns:a16="http://schemas.microsoft.com/office/drawing/2014/main" id="{5EC709AB-9A0E-46D5-8ABF-51E98EA8EF02}"/>
              </a:ext>
            </a:extLst>
          </p:cNvPr>
          <p:cNvSpPr>
            <a:spLocks noGrp="1"/>
          </p:cNvSpPr>
          <p:nvPr>
            <p:ph type="ftr" sz="quarter" idx="11"/>
          </p:nvPr>
        </p:nvSpPr>
        <p:spPr/>
        <p:txBody>
          <a:bodyPr/>
          <a:lstStyle/>
          <a:p>
            <a:r>
              <a:rPr lang="en-US" dirty="0"/>
              <a:t>CPSC 462  T. L. Bettens</a:t>
            </a:r>
          </a:p>
        </p:txBody>
      </p:sp>
      <p:sp>
        <p:nvSpPr>
          <p:cNvPr id="19" name="Slide Number Placeholder 18">
            <a:extLst>
              <a:ext uri="{FF2B5EF4-FFF2-40B4-BE49-F238E27FC236}">
                <a16:creationId xmlns:a16="http://schemas.microsoft.com/office/drawing/2014/main" id="{03065294-6EE7-4A6F-9F37-07F0C0C84938}"/>
              </a:ext>
            </a:extLst>
          </p:cNvPr>
          <p:cNvSpPr>
            <a:spLocks noGrp="1"/>
          </p:cNvSpPr>
          <p:nvPr>
            <p:ph type="sldNum" sz="quarter" idx="12"/>
          </p:nvPr>
        </p:nvSpPr>
        <p:spPr/>
        <p:txBody>
          <a:bodyPr/>
          <a:lstStyle/>
          <a:p>
            <a:fld id="{7FAE0778-D8E2-4E97-B7E5-02EA3F4B7C62}" type="slidenum">
              <a:rPr lang="en-US" smtClean="0"/>
              <a:t>‹#›</a:t>
            </a:fld>
            <a:endParaRPr lang="en-US" dirty="0"/>
          </a:p>
        </p:txBody>
      </p:sp>
      <p:sp>
        <p:nvSpPr>
          <p:cNvPr id="21" name="Title 20">
            <a:extLst>
              <a:ext uri="{FF2B5EF4-FFF2-40B4-BE49-F238E27FC236}">
                <a16:creationId xmlns:a16="http://schemas.microsoft.com/office/drawing/2014/main" id="{4B9B2706-AA95-4353-9209-F4BF3988542F}"/>
              </a:ext>
            </a:extLst>
          </p:cNvPr>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 name="Date Placeholder 9">
            <a:extLst>
              <a:ext uri="{FF2B5EF4-FFF2-40B4-BE49-F238E27FC236}">
                <a16:creationId xmlns:a16="http://schemas.microsoft.com/office/drawing/2014/main" id="{A5C17685-EB9C-4956-AC79-C9B7493C7113}"/>
              </a:ext>
            </a:extLst>
          </p:cNvPr>
          <p:cNvSpPr>
            <a:spLocks noGrp="1"/>
          </p:cNvSpPr>
          <p:nvPr>
            <p:ph type="dt" sz="half" idx="10"/>
          </p:nvPr>
        </p:nvSpPr>
        <p:spPr/>
        <p:txBody>
          <a:bodyPr/>
          <a:lstStyle/>
          <a:p>
            <a:r>
              <a:rPr lang="en-US"/>
              <a:t>Spring 2020</a:t>
            </a:r>
            <a:endParaRPr lang="en-US" dirty="0"/>
          </a:p>
        </p:txBody>
      </p:sp>
      <p:sp>
        <p:nvSpPr>
          <p:cNvPr id="11" name="Footer Placeholder 10">
            <a:extLst>
              <a:ext uri="{FF2B5EF4-FFF2-40B4-BE49-F238E27FC236}">
                <a16:creationId xmlns:a16="http://schemas.microsoft.com/office/drawing/2014/main" id="{1B7698AE-E8B6-4C83-B487-5EE7C42F31E1}"/>
              </a:ext>
            </a:extLst>
          </p:cNvPr>
          <p:cNvSpPr>
            <a:spLocks noGrp="1"/>
          </p:cNvSpPr>
          <p:nvPr>
            <p:ph type="ftr" sz="quarter" idx="11"/>
          </p:nvPr>
        </p:nvSpPr>
        <p:spPr/>
        <p:txBody>
          <a:bodyPr/>
          <a:lstStyle/>
          <a:p>
            <a:r>
              <a:rPr lang="en-US" dirty="0"/>
              <a:t>CPSC 462  T. L. Bettens</a:t>
            </a:r>
          </a:p>
        </p:txBody>
      </p:sp>
      <p:sp>
        <p:nvSpPr>
          <p:cNvPr id="12" name="Slide Number Placeholder 11">
            <a:extLst>
              <a:ext uri="{FF2B5EF4-FFF2-40B4-BE49-F238E27FC236}">
                <a16:creationId xmlns:a16="http://schemas.microsoft.com/office/drawing/2014/main" id="{D9D857A7-4DC1-46CC-8E3C-BF674CF9159C}"/>
              </a:ext>
            </a:extLst>
          </p:cNvPr>
          <p:cNvSpPr>
            <a:spLocks noGrp="1"/>
          </p:cNvSpPr>
          <p:nvPr>
            <p:ph type="sldNum" sz="quarter" idx="12"/>
          </p:nvPr>
        </p:nvSpPr>
        <p:spPr/>
        <p:txBody>
          <a:bodyPr/>
          <a:lstStyle/>
          <a:p>
            <a:fld id="{7FAE0778-D8E2-4E97-B7E5-02EA3F4B7C62}"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52400" y="1447800"/>
            <a:ext cx="5842000" cy="487679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447800"/>
            <a:ext cx="5842000" cy="487679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9295F150-A8CC-419F-AE75-F29ABFD3FE48}"/>
              </a:ext>
            </a:extLst>
          </p:cNvPr>
          <p:cNvSpPr>
            <a:spLocks noGrp="1"/>
          </p:cNvSpPr>
          <p:nvPr>
            <p:ph type="dt" sz="half" idx="10"/>
          </p:nvPr>
        </p:nvSpPr>
        <p:spPr/>
        <p:txBody>
          <a:bodyPr/>
          <a:lstStyle/>
          <a:p>
            <a:r>
              <a:rPr lang="en-US"/>
              <a:t>Spring 2020</a:t>
            </a:r>
            <a:endParaRPr lang="en-US" dirty="0"/>
          </a:p>
        </p:txBody>
      </p:sp>
      <p:sp>
        <p:nvSpPr>
          <p:cNvPr id="12" name="Footer Placeholder 11">
            <a:extLst>
              <a:ext uri="{FF2B5EF4-FFF2-40B4-BE49-F238E27FC236}">
                <a16:creationId xmlns:a16="http://schemas.microsoft.com/office/drawing/2014/main" id="{A7B95944-B447-4569-A654-D5AF2E87C4CC}"/>
              </a:ext>
            </a:extLst>
          </p:cNvPr>
          <p:cNvSpPr>
            <a:spLocks noGrp="1"/>
          </p:cNvSpPr>
          <p:nvPr>
            <p:ph type="ftr" sz="quarter" idx="11"/>
          </p:nvPr>
        </p:nvSpPr>
        <p:spPr/>
        <p:txBody>
          <a:bodyPr/>
          <a:lstStyle/>
          <a:p>
            <a:r>
              <a:rPr lang="en-US" dirty="0"/>
              <a:t>CPSC 462  T. L. Bettens</a:t>
            </a:r>
          </a:p>
        </p:txBody>
      </p:sp>
      <p:sp>
        <p:nvSpPr>
          <p:cNvPr id="13" name="Slide Number Placeholder 12">
            <a:extLst>
              <a:ext uri="{FF2B5EF4-FFF2-40B4-BE49-F238E27FC236}">
                <a16:creationId xmlns:a16="http://schemas.microsoft.com/office/drawing/2014/main" id="{F9A9C9CC-6120-4184-B8E8-85217CCB7465}"/>
              </a:ext>
            </a:extLst>
          </p:cNvPr>
          <p:cNvSpPr>
            <a:spLocks noGrp="1"/>
          </p:cNvSpPr>
          <p:nvPr>
            <p:ph type="sldNum" sz="quarter" idx="12"/>
          </p:nvPr>
        </p:nvSpPr>
        <p:spPr/>
        <p:txBody>
          <a:bodyPr/>
          <a:lstStyle/>
          <a:p>
            <a:fld id="{7FAE0778-D8E2-4E97-B7E5-02EA3F4B7C62}" type="slidenum">
              <a:rPr lang="en-US" smtClean="0"/>
              <a:t>‹#›</a:t>
            </a:fld>
            <a:endParaRPr lang="en-US" dirty="0"/>
          </a:p>
        </p:txBody>
      </p:sp>
      <p:sp>
        <p:nvSpPr>
          <p:cNvPr id="15" name="Title 14">
            <a:extLst>
              <a:ext uri="{FF2B5EF4-FFF2-40B4-BE49-F238E27FC236}">
                <a16:creationId xmlns:a16="http://schemas.microsoft.com/office/drawing/2014/main" id="{F6F4BEF8-D5F1-4372-B0B9-8E27083048D3}"/>
              </a:ext>
            </a:extLst>
          </p:cNvPr>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 y="1447800"/>
            <a:ext cx="58441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400" y="2087562"/>
            <a:ext cx="5844117" cy="42370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447800"/>
            <a:ext cx="58441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9" y="2087562"/>
            <a:ext cx="5844117" cy="42370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FDF55426-2421-4665-8C65-D2E62F6A4E36}"/>
              </a:ext>
            </a:extLst>
          </p:cNvPr>
          <p:cNvSpPr>
            <a:spLocks noGrp="1"/>
          </p:cNvSpPr>
          <p:nvPr>
            <p:ph type="dt" sz="half" idx="10"/>
          </p:nvPr>
        </p:nvSpPr>
        <p:spPr/>
        <p:txBody>
          <a:bodyPr/>
          <a:lstStyle/>
          <a:p>
            <a:r>
              <a:rPr lang="en-US"/>
              <a:t>Spring 2020</a:t>
            </a:r>
            <a:endParaRPr lang="en-US" dirty="0"/>
          </a:p>
        </p:txBody>
      </p:sp>
      <p:sp>
        <p:nvSpPr>
          <p:cNvPr id="14" name="Footer Placeholder 13">
            <a:extLst>
              <a:ext uri="{FF2B5EF4-FFF2-40B4-BE49-F238E27FC236}">
                <a16:creationId xmlns:a16="http://schemas.microsoft.com/office/drawing/2014/main" id="{683B8BA7-80B7-44BE-A5F1-4D50C44F8E79}"/>
              </a:ext>
            </a:extLst>
          </p:cNvPr>
          <p:cNvSpPr>
            <a:spLocks noGrp="1"/>
          </p:cNvSpPr>
          <p:nvPr>
            <p:ph type="ftr" sz="quarter" idx="11"/>
          </p:nvPr>
        </p:nvSpPr>
        <p:spPr/>
        <p:txBody>
          <a:bodyPr/>
          <a:lstStyle/>
          <a:p>
            <a:r>
              <a:rPr lang="en-US" dirty="0"/>
              <a:t>CPSC 462  T. L. Bettens</a:t>
            </a:r>
          </a:p>
        </p:txBody>
      </p:sp>
      <p:sp>
        <p:nvSpPr>
          <p:cNvPr id="15" name="Slide Number Placeholder 14">
            <a:extLst>
              <a:ext uri="{FF2B5EF4-FFF2-40B4-BE49-F238E27FC236}">
                <a16:creationId xmlns:a16="http://schemas.microsoft.com/office/drawing/2014/main" id="{02CF6FFA-5D08-49A2-97D4-DC9F3470504C}"/>
              </a:ext>
            </a:extLst>
          </p:cNvPr>
          <p:cNvSpPr>
            <a:spLocks noGrp="1"/>
          </p:cNvSpPr>
          <p:nvPr>
            <p:ph type="sldNum" sz="quarter" idx="12"/>
          </p:nvPr>
        </p:nvSpPr>
        <p:spPr/>
        <p:txBody>
          <a:bodyPr/>
          <a:lstStyle/>
          <a:p>
            <a:fld id="{7FAE0778-D8E2-4E97-B7E5-02EA3F4B7C62}" type="slidenum">
              <a:rPr lang="en-US" smtClean="0"/>
              <a:t>‹#›</a:t>
            </a:fld>
            <a:endParaRPr lang="en-US" dirty="0"/>
          </a:p>
        </p:txBody>
      </p:sp>
      <p:sp>
        <p:nvSpPr>
          <p:cNvPr id="16" name="Title 15">
            <a:extLst>
              <a:ext uri="{FF2B5EF4-FFF2-40B4-BE49-F238E27FC236}">
                <a16:creationId xmlns:a16="http://schemas.microsoft.com/office/drawing/2014/main" id="{6225D135-5E5F-48B9-8DA4-4FAF611EA00B}"/>
              </a:ext>
            </a:extLst>
          </p:cNvPr>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Date Placeholder 8">
            <a:extLst>
              <a:ext uri="{FF2B5EF4-FFF2-40B4-BE49-F238E27FC236}">
                <a16:creationId xmlns:a16="http://schemas.microsoft.com/office/drawing/2014/main" id="{DB945D37-78CD-4F46-A836-75724ABB060D}"/>
              </a:ext>
            </a:extLst>
          </p:cNvPr>
          <p:cNvSpPr>
            <a:spLocks noGrp="1"/>
          </p:cNvSpPr>
          <p:nvPr>
            <p:ph type="dt" sz="half" idx="10"/>
          </p:nvPr>
        </p:nvSpPr>
        <p:spPr/>
        <p:txBody>
          <a:bodyPr/>
          <a:lstStyle/>
          <a:p>
            <a:r>
              <a:rPr lang="en-US"/>
              <a:t>Spring 2020</a:t>
            </a:r>
            <a:endParaRPr lang="en-US" dirty="0"/>
          </a:p>
        </p:txBody>
      </p:sp>
      <p:sp>
        <p:nvSpPr>
          <p:cNvPr id="10" name="Footer Placeholder 9">
            <a:extLst>
              <a:ext uri="{FF2B5EF4-FFF2-40B4-BE49-F238E27FC236}">
                <a16:creationId xmlns:a16="http://schemas.microsoft.com/office/drawing/2014/main" id="{B22A4F42-2F7C-497A-A0E9-4CC4BD2CF934}"/>
              </a:ext>
            </a:extLst>
          </p:cNvPr>
          <p:cNvSpPr>
            <a:spLocks noGrp="1"/>
          </p:cNvSpPr>
          <p:nvPr>
            <p:ph type="ftr" sz="quarter" idx="11"/>
          </p:nvPr>
        </p:nvSpPr>
        <p:spPr/>
        <p:txBody>
          <a:bodyPr/>
          <a:lstStyle/>
          <a:p>
            <a:r>
              <a:rPr lang="en-US" dirty="0"/>
              <a:t>CPSC 462  T. L. Bettens</a:t>
            </a:r>
          </a:p>
        </p:txBody>
      </p:sp>
      <p:sp>
        <p:nvSpPr>
          <p:cNvPr id="11" name="Slide Number Placeholder 10">
            <a:extLst>
              <a:ext uri="{FF2B5EF4-FFF2-40B4-BE49-F238E27FC236}">
                <a16:creationId xmlns:a16="http://schemas.microsoft.com/office/drawing/2014/main" id="{22BF206A-D467-452A-A3A8-420487B9FDD1}"/>
              </a:ext>
            </a:extLst>
          </p:cNvPr>
          <p:cNvSpPr>
            <a:spLocks noGrp="1"/>
          </p:cNvSpPr>
          <p:nvPr>
            <p:ph type="sldNum" sz="quarter" idx="12"/>
          </p:nvPr>
        </p:nvSpPr>
        <p:spPr/>
        <p:txBody>
          <a:bodyPr/>
          <a:lstStyle/>
          <a:p>
            <a:fld id="{7FAE0778-D8E2-4E97-B7E5-02EA3F4B7C62}" type="slidenum">
              <a:rPr lang="en-US" smtClean="0"/>
              <a:t>‹#›</a:t>
            </a:fld>
            <a:endParaRPr lang="en-US" dirty="0"/>
          </a:p>
        </p:txBody>
      </p:sp>
      <p:sp>
        <p:nvSpPr>
          <p:cNvPr id="12" name="Title 11">
            <a:extLst>
              <a:ext uri="{FF2B5EF4-FFF2-40B4-BE49-F238E27FC236}">
                <a16:creationId xmlns:a16="http://schemas.microsoft.com/office/drawing/2014/main" id="{EBBC3C64-0649-4AB1-9FE5-D7BBF803D3A0}"/>
              </a:ext>
            </a:extLst>
          </p:cNvPr>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4B3CC289-CCC4-4A43-A05D-A6D7D89F1893}"/>
              </a:ext>
            </a:extLst>
          </p:cNvPr>
          <p:cNvSpPr>
            <a:spLocks noGrp="1"/>
          </p:cNvSpPr>
          <p:nvPr>
            <p:ph type="dt" sz="half" idx="10"/>
          </p:nvPr>
        </p:nvSpPr>
        <p:spPr/>
        <p:txBody>
          <a:bodyPr/>
          <a:lstStyle/>
          <a:p>
            <a:r>
              <a:rPr lang="en-US"/>
              <a:t>Spring 2020</a:t>
            </a:r>
            <a:endParaRPr lang="en-US" dirty="0"/>
          </a:p>
        </p:txBody>
      </p:sp>
      <p:sp>
        <p:nvSpPr>
          <p:cNvPr id="9" name="Footer Placeholder 8">
            <a:extLst>
              <a:ext uri="{FF2B5EF4-FFF2-40B4-BE49-F238E27FC236}">
                <a16:creationId xmlns:a16="http://schemas.microsoft.com/office/drawing/2014/main" id="{90AF7544-9B66-4F13-9A90-D2C323EF55A2}"/>
              </a:ext>
            </a:extLst>
          </p:cNvPr>
          <p:cNvSpPr>
            <a:spLocks noGrp="1"/>
          </p:cNvSpPr>
          <p:nvPr>
            <p:ph type="ftr" sz="quarter" idx="11"/>
          </p:nvPr>
        </p:nvSpPr>
        <p:spPr/>
        <p:txBody>
          <a:bodyPr/>
          <a:lstStyle/>
          <a:p>
            <a:r>
              <a:rPr lang="en-US" dirty="0"/>
              <a:t>CPSC 462  T. L. Bettens</a:t>
            </a:r>
          </a:p>
        </p:txBody>
      </p:sp>
      <p:sp>
        <p:nvSpPr>
          <p:cNvPr id="10" name="Slide Number Placeholder 9">
            <a:extLst>
              <a:ext uri="{FF2B5EF4-FFF2-40B4-BE49-F238E27FC236}">
                <a16:creationId xmlns:a16="http://schemas.microsoft.com/office/drawing/2014/main" id="{B86A91CB-B283-46A4-AC1B-5CB863CCA183}"/>
              </a:ext>
            </a:extLst>
          </p:cNvPr>
          <p:cNvSpPr>
            <a:spLocks noGrp="1"/>
          </p:cNvSpPr>
          <p:nvPr>
            <p:ph type="sldNum" sz="quarter" idx="12"/>
          </p:nvPr>
        </p:nvSpPr>
        <p:spPr/>
        <p:txBody>
          <a:bodyPr/>
          <a:lstStyle/>
          <a:p>
            <a:fld id="{7FAE0778-D8E2-4E97-B7E5-02EA3F4B7C62}"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200" y="273050"/>
            <a:ext cx="4544486"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4766733" y="273053"/>
            <a:ext cx="7349067" cy="605154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200" y="1435103"/>
            <a:ext cx="4544486" cy="48894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Date Placeholder 10">
            <a:extLst>
              <a:ext uri="{FF2B5EF4-FFF2-40B4-BE49-F238E27FC236}">
                <a16:creationId xmlns:a16="http://schemas.microsoft.com/office/drawing/2014/main" id="{E1C2B05E-291A-45F1-9936-61793CBCEF2B}"/>
              </a:ext>
            </a:extLst>
          </p:cNvPr>
          <p:cNvSpPr>
            <a:spLocks noGrp="1"/>
          </p:cNvSpPr>
          <p:nvPr>
            <p:ph type="dt" sz="half" idx="10"/>
          </p:nvPr>
        </p:nvSpPr>
        <p:spPr/>
        <p:txBody>
          <a:bodyPr/>
          <a:lstStyle/>
          <a:p>
            <a:r>
              <a:rPr lang="en-US"/>
              <a:t>Spring 2020</a:t>
            </a:r>
            <a:endParaRPr lang="en-US" dirty="0"/>
          </a:p>
        </p:txBody>
      </p:sp>
      <p:sp>
        <p:nvSpPr>
          <p:cNvPr id="12" name="Footer Placeholder 11">
            <a:extLst>
              <a:ext uri="{FF2B5EF4-FFF2-40B4-BE49-F238E27FC236}">
                <a16:creationId xmlns:a16="http://schemas.microsoft.com/office/drawing/2014/main" id="{1EC64CCE-55EE-49E6-AA1D-442240D5242F}"/>
              </a:ext>
            </a:extLst>
          </p:cNvPr>
          <p:cNvSpPr>
            <a:spLocks noGrp="1"/>
          </p:cNvSpPr>
          <p:nvPr>
            <p:ph type="ftr" sz="quarter" idx="11"/>
          </p:nvPr>
        </p:nvSpPr>
        <p:spPr/>
        <p:txBody>
          <a:bodyPr/>
          <a:lstStyle/>
          <a:p>
            <a:r>
              <a:rPr lang="en-US" dirty="0"/>
              <a:t>CPSC 462  T. L. Bettens</a:t>
            </a:r>
          </a:p>
        </p:txBody>
      </p:sp>
      <p:sp>
        <p:nvSpPr>
          <p:cNvPr id="13" name="Slide Number Placeholder 12">
            <a:extLst>
              <a:ext uri="{FF2B5EF4-FFF2-40B4-BE49-F238E27FC236}">
                <a16:creationId xmlns:a16="http://schemas.microsoft.com/office/drawing/2014/main" id="{F9B2F91F-9F97-46FA-9DB7-7AA8E6250D6D}"/>
              </a:ext>
            </a:extLst>
          </p:cNvPr>
          <p:cNvSpPr>
            <a:spLocks noGrp="1"/>
          </p:cNvSpPr>
          <p:nvPr>
            <p:ph type="sldNum" sz="quarter" idx="12"/>
          </p:nvPr>
        </p:nvSpPr>
        <p:spPr/>
        <p:txBody>
          <a:bodyPr/>
          <a:lstStyle/>
          <a:p>
            <a:fld id="{7FAE0778-D8E2-4E97-B7E5-02EA3F4B7C62}"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200" y="4800600"/>
            <a:ext cx="120396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76200" y="228600"/>
            <a:ext cx="12039600" cy="44989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76200" y="5367338"/>
            <a:ext cx="12039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Date Placeholder 10">
            <a:extLst>
              <a:ext uri="{FF2B5EF4-FFF2-40B4-BE49-F238E27FC236}">
                <a16:creationId xmlns:a16="http://schemas.microsoft.com/office/drawing/2014/main" id="{59D2031C-662B-4764-AEEC-8452A5FF0BB4}"/>
              </a:ext>
            </a:extLst>
          </p:cNvPr>
          <p:cNvSpPr>
            <a:spLocks noGrp="1"/>
          </p:cNvSpPr>
          <p:nvPr>
            <p:ph type="dt" sz="half" idx="10"/>
          </p:nvPr>
        </p:nvSpPr>
        <p:spPr/>
        <p:txBody>
          <a:bodyPr/>
          <a:lstStyle/>
          <a:p>
            <a:r>
              <a:rPr lang="en-US"/>
              <a:t>Spring 2020</a:t>
            </a:r>
            <a:endParaRPr lang="en-US" dirty="0"/>
          </a:p>
        </p:txBody>
      </p:sp>
      <p:sp>
        <p:nvSpPr>
          <p:cNvPr id="12" name="Footer Placeholder 11">
            <a:extLst>
              <a:ext uri="{FF2B5EF4-FFF2-40B4-BE49-F238E27FC236}">
                <a16:creationId xmlns:a16="http://schemas.microsoft.com/office/drawing/2014/main" id="{99AF8920-7957-4F3C-8A91-E0225DE6CAC5}"/>
              </a:ext>
            </a:extLst>
          </p:cNvPr>
          <p:cNvSpPr>
            <a:spLocks noGrp="1"/>
          </p:cNvSpPr>
          <p:nvPr>
            <p:ph type="ftr" sz="quarter" idx="11"/>
          </p:nvPr>
        </p:nvSpPr>
        <p:spPr/>
        <p:txBody>
          <a:bodyPr/>
          <a:lstStyle/>
          <a:p>
            <a:r>
              <a:rPr lang="en-US" dirty="0"/>
              <a:t>CPSC 462  T. L. Bettens</a:t>
            </a:r>
          </a:p>
        </p:txBody>
      </p:sp>
      <p:sp>
        <p:nvSpPr>
          <p:cNvPr id="13" name="Slide Number Placeholder 12">
            <a:extLst>
              <a:ext uri="{FF2B5EF4-FFF2-40B4-BE49-F238E27FC236}">
                <a16:creationId xmlns:a16="http://schemas.microsoft.com/office/drawing/2014/main" id="{A0849E62-DAE9-4B4E-BA3B-240835FD279F}"/>
              </a:ext>
            </a:extLst>
          </p:cNvPr>
          <p:cNvSpPr>
            <a:spLocks noGrp="1"/>
          </p:cNvSpPr>
          <p:nvPr>
            <p:ph type="sldNum" sz="quarter" idx="12"/>
          </p:nvPr>
        </p:nvSpPr>
        <p:spPr/>
        <p:txBody>
          <a:bodyPr/>
          <a:lstStyle/>
          <a:p>
            <a:fld id="{7FAE0778-D8E2-4E97-B7E5-02EA3F4B7C62}"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B4CFDAA9-107F-4232-B20D-A0E3A6F214A1}"/>
              </a:ext>
            </a:extLst>
          </p:cNvPr>
          <p:cNvSpPr>
            <a:spLocks noGrp="1"/>
          </p:cNvSpPr>
          <p:nvPr>
            <p:ph type="dt" sz="half" idx="10"/>
          </p:nvPr>
        </p:nvSpPr>
        <p:spPr/>
        <p:txBody>
          <a:bodyPr/>
          <a:lstStyle/>
          <a:p>
            <a:r>
              <a:rPr lang="en-US"/>
              <a:t>Spring 2020</a:t>
            </a:r>
            <a:endParaRPr lang="en-US" dirty="0"/>
          </a:p>
        </p:txBody>
      </p:sp>
      <p:sp>
        <p:nvSpPr>
          <p:cNvPr id="11" name="Footer Placeholder 10">
            <a:extLst>
              <a:ext uri="{FF2B5EF4-FFF2-40B4-BE49-F238E27FC236}">
                <a16:creationId xmlns:a16="http://schemas.microsoft.com/office/drawing/2014/main" id="{0EE1951B-DFA2-43FD-BF44-F157063CF922}"/>
              </a:ext>
            </a:extLst>
          </p:cNvPr>
          <p:cNvSpPr>
            <a:spLocks noGrp="1"/>
          </p:cNvSpPr>
          <p:nvPr>
            <p:ph type="ftr" sz="quarter" idx="11"/>
          </p:nvPr>
        </p:nvSpPr>
        <p:spPr/>
        <p:txBody>
          <a:bodyPr/>
          <a:lstStyle/>
          <a:p>
            <a:r>
              <a:rPr lang="en-US" dirty="0"/>
              <a:t>CPSC 462  T. L. Bettens</a:t>
            </a:r>
          </a:p>
        </p:txBody>
      </p:sp>
      <p:sp>
        <p:nvSpPr>
          <p:cNvPr id="12" name="Slide Number Placeholder 11">
            <a:extLst>
              <a:ext uri="{FF2B5EF4-FFF2-40B4-BE49-F238E27FC236}">
                <a16:creationId xmlns:a16="http://schemas.microsoft.com/office/drawing/2014/main" id="{2F71037A-8372-4472-9171-A7E73A75D1A9}"/>
              </a:ext>
            </a:extLst>
          </p:cNvPr>
          <p:cNvSpPr>
            <a:spLocks noGrp="1"/>
          </p:cNvSpPr>
          <p:nvPr>
            <p:ph type="sldNum" sz="quarter" idx="12"/>
          </p:nvPr>
        </p:nvSpPr>
        <p:spPr/>
        <p:txBody>
          <a:bodyPr/>
          <a:lstStyle/>
          <a:p>
            <a:fld id="{7FAE0778-D8E2-4E97-B7E5-02EA3F4B7C62}" type="slidenum">
              <a:rPr lang="en-US" smtClean="0"/>
              <a:t>‹#›</a:t>
            </a:fld>
            <a:endParaRPr lang="en-US" dirty="0"/>
          </a:p>
        </p:txBody>
      </p:sp>
      <p:sp>
        <p:nvSpPr>
          <p:cNvPr id="13" name="Title 12">
            <a:extLst>
              <a:ext uri="{FF2B5EF4-FFF2-40B4-BE49-F238E27FC236}">
                <a16:creationId xmlns:a16="http://schemas.microsoft.com/office/drawing/2014/main" id="{07FCA453-A10A-40E8-A92F-71865152AE23}"/>
              </a:ext>
            </a:extLst>
          </p:cNvPr>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3ED0A4B9-DA78-4F3E-B5AF-C83A46278163}"/>
              </a:ext>
            </a:extLst>
          </p:cNvPr>
          <p:cNvSpPr>
            <a:spLocks noGrp="1"/>
          </p:cNvSpPr>
          <p:nvPr>
            <p:ph type="dt" sz="half" idx="10"/>
          </p:nvPr>
        </p:nvSpPr>
        <p:spPr/>
        <p:txBody>
          <a:bodyPr/>
          <a:lstStyle/>
          <a:p>
            <a:r>
              <a:rPr lang="en-US"/>
              <a:t>Spring 2020</a:t>
            </a:r>
            <a:endParaRPr lang="en-US" dirty="0"/>
          </a:p>
        </p:txBody>
      </p:sp>
      <p:sp>
        <p:nvSpPr>
          <p:cNvPr id="11" name="Footer Placeholder 10">
            <a:extLst>
              <a:ext uri="{FF2B5EF4-FFF2-40B4-BE49-F238E27FC236}">
                <a16:creationId xmlns:a16="http://schemas.microsoft.com/office/drawing/2014/main" id="{23E4A870-38F0-4D9D-BE04-23509EBB2688}"/>
              </a:ext>
            </a:extLst>
          </p:cNvPr>
          <p:cNvSpPr>
            <a:spLocks noGrp="1"/>
          </p:cNvSpPr>
          <p:nvPr>
            <p:ph type="ftr" sz="quarter" idx="11"/>
          </p:nvPr>
        </p:nvSpPr>
        <p:spPr/>
        <p:txBody>
          <a:bodyPr/>
          <a:lstStyle/>
          <a:p>
            <a:r>
              <a:rPr lang="en-US" dirty="0"/>
              <a:t>CPSC 462  T. L. Bettens</a:t>
            </a:r>
          </a:p>
        </p:txBody>
      </p:sp>
      <p:sp>
        <p:nvSpPr>
          <p:cNvPr id="12" name="Slide Number Placeholder 11">
            <a:extLst>
              <a:ext uri="{FF2B5EF4-FFF2-40B4-BE49-F238E27FC236}">
                <a16:creationId xmlns:a16="http://schemas.microsoft.com/office/drawing/2014/main" id="{D8A7AE5A-9D19-4BD4-A40B-F7567CEBF3B0}"/>
              </a:ext>
            </a:extLst>
          </p:cNvPr>
          <p:cNvSpPr>
            <a:spLocks noGrp="1"/>
          </p:cNvSpPr>
          <p:nvPr>
            <p:ph type="sldNum" sz="quarter" idx="12"/>
          </p:nvPr>
        </p:nvSpPr>
        <p:spPr/>
        <p:txBody>
          <a:bodyPr/>
          <a:lstStyle/>
          <a:p>
            <a:fld id="{7FAE0778-D8E2-4E97-B7E5-02EA3F4B7C62}"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 y="274638"/>
            <a:ext cx="11887200" cy="1143000"/>
          </a:xfrm>
          <a:prstGeom prst="rect">
            <a:avLst/>
          </a:prstGeom>
        </p:spPr>
        <p:txBody>
          <a:bodyPr vert="horz" lIns="91440" tIns="45720" rIns="91440" bIns="45720" rtlCol="0" anchor="t" anchorCtr="0">
            <a:normAutofit/>
          </a:bodyPr>
          <a:lstStyle/>
          <a:p>
            <a:r>
              <a:rPr lang="en-US" dirty="0"/>
              <a:t>Click to edit Master title style</a:t>
            </a:r>
          </a:p>
        </p:txBody>
      </p:sp>
      <p:sp>
        <p:nvSpPr>
          <p:cNvPr id="3" name="Text Placeholder 2"/>
          <p:cNvSpPr>
            <a:spLocks noGrp="1"/>
          </p:cNvSpPr>
          <p:nvPr>
            <p:ph type="body" idx="1"/>
          </p:nvPr>
        </p:nvSpPr>
        <p:spPr>
          <a:xfrm>
            <a:off x="152400" y="1417639"/>
            <a:ext cx="11887200" cy="49149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7D1480FC-D435-48AD-B8C6-D6DB91A6BC64}"/>
              </a:ext>
            </a:extLst>
          </p:cNvPr>
          <p:cNvPicPr>
            <a:picLocks/>
          </p:cNvPicPr>
          <p:nvPr userDrawn="1"/>
        </p:nvPicPr>
        <p:blipFill>
          <a:blip r:embed="rId14"/>
          <a:stretch>
            <a:fillRect/>
          </a:stretch>
        </p:blipFill>
        <p:spPr>
          <a:xfrm>
            <a:off x="76200" y="6400800"/>
            <a:ext cx="4572000" cy="433388"/>
          </a:xfrm>
          <a:prstGeom prst="rect">
            <a:avLst/>
          </a:prstGeom>
        </p:spPr>
      </p:pic>
      <p:pic>
        <p:nvPicPr>
          <p:cNvPr id="8" name="Picture 7">
            <a:extLst>
              <a:ext uri="{FF2B5EF4-FFF2-40B4-BE49-F238E27FC236}">
                <a16:creationId xmlns:a16="http://schemas.microsoft.com/office/drawing/2014/main" id="{7AAFDA57-4D11-4DAA-AC12-1B0C9E2C0FEE}"/>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t="17240" b="14725"/>
          <a:stretch/>
        </p:blipFill>
        <p:spPr>
          <a:xfrm>
            <a:off x="76200" y="6400800"/>
            <a:ext cx="1921143" cy="457200"/>
          </a:xfrm>
          <a:prstGeom prst="rect">
            <a:avLst/>
          </a:prstGeom>
        </p:spPr>
      </p:pic>
      <p:sp>
        <p:nvSpPr>
          <p:cNvPr id="10" name="Date Placeholder 9">
            <a:extLst>
              <a:ext uri="{FF2B5EF4-FFF2-40B4-BE49-F238E27FC236}">
                <a16:creationId xmlns:a16="http://schemas.microsoft.com/office/drawing/2014/main" id="{AEDB1E34-50CF-4C2E-B855-6F6B1920C8E9}"/>
              </a:ext>
            </a:extLst>
          </p:cNvPr>
          <p:cNvSpPr>
            <a:spLocks noGrp="1"/>
          </p:cNvSpPr>
          <p:nvPr>
            <p:ph type="dt" sz="half" idx="2"/>
          </p:nvPr>
        </p:nvSpPr>
        <p:spPr>
          <a:xfrm>
            <a:off x="1905000" y="6356350"/>
            <a:ext cx="2133600" cy="501650"/>
          </a:xfrm>
          <a:prstGeom prst="rect">
            <a:avLst/>
          </a:prstGeom>
        </p:spPr>
        <p:txBody>
          <a:bodyPr vert="horz" lIns="91440" tIns="45720" rIns="91440" bIns="45720" rtlCol="0" anchor="b" anchorCtr="0"/>
          <a:lstStyle>
            <a:lvl1pPr algn="l">
              <a:defRPr sz="1200">
                <a:solidFill>
                  <a:schemeClr val="tx1">
                    <a:tint val="75000"/>
                  </a:schemeClr>
                </a:solidFill>
              </a:defRPr>
            </a:lvl1pPr>
          </a:lstStyle>
          <a:p>
            <a:r>
              <a:rPr lang="en-US"/>
              <a:t>Spring 2020</a:t>
            </a:r>
            <a:endParaRPr lang="en-US" dirty="0"/>
          </a:p>
        </p:txBody>
      </p:sp>
      <p:sp>
        <p:nvSpPr>
          <p:cNvPr id="11" name="Footer Placeholder 10">
            <a:extLst>
              <a:ext uri="{FF2B5EF4-FFF2-40B4-BE49-F238E27FC236}">
                <a16:creationId xmlns:a16="http://schemas.microsoft.com/office/drawing/2014/main" id="{83433483-A1DD-4BB8-8E16-0A6A46D90C94}"/>
              </a:ext>
            </a:extLst>
          </p:cNvPr>
          <p:cNvSpPr>
            <a:spLocks noGrp="1"/>
          </p:cNvSpPr>
          <p:nvPr>
            <p:ph type="ftr" sz="quarter" idx="3"/>
          </p:nvPr>
        </p:nvSpPr>
        <p:spPr>
          <a:xfrm>
            <a:off x="4038600" y="6356350"/>
            <a:ext cx="4114800" cy="501650"/>
          </a:xfrm>
          <a:prstGeom prst="rect">
            <a:avLst/>
          </a:prstGeom>
        </p:spPr>
        <p:txBody>
          <a:bodyPr vert="horz" lIns="91440" tIns="45720" rIns="91440" bIns="45720" rtlCol="0" anchor="b" anchorCtr="0"/>
          <a:lstStyle>
            <a:lvl1pPr algn="ctr">
              <a:defRPr sz="1200">
                <a:solidFill>
                  <a:schemeClr val="tx1">
                    <a:tint val="75000"/>
                  </a:schemeClr>
                </a:solidFill>
              </a:defRPr>
            </a:lvl1pPr>
          </a:lstStyle>
          <a:p>
            <a:r>
              <a:rPr lang="en-US" dirty="0"/>
              <a:t>CPSC 462  T. L. Bettens</a:t>
            </a:r>
          </a:p>
        </p:txBody>
      </p:sp>
      <p:sp>
        <p:nvSpPr>
          <p:cNvPr id="12" name="Slide Number Placeholder 11">
            <a:extLst>
              <a:ext uri="{FF2B5EF4-FFF2-40B4-BE49-F238E27FC236}">
                <a16:creationId xmlns:a16="http://schemas.microsoft.com/office/drawing/2014/main" id="{48BAB638-1BB6-4338-82CB-111A72CCA657}"/>
              </a:ext>
            </a:extLst>
          </p:cNvPr>
          <p:cNvSpPr>
            <a:spLocks noGrp="1"/>
          </p:cNvSpPr>
          <p:nvPr>
            <p:ph type="sldNum" sz="quarter" idx="4"/>
          </p:nvPr>
        </p:nvSpPr>
        <p:spPr>
          <a:xfrm>
            <a:off x="9372600" y="6356350"/>
            <a:ext cx="2743200" cy="501650"/>
          </a:xfrm>
          <a:prstGeom prst="rect">
            <a:avLst/>
          </a:prstGeom>
        </p:spPr>
        <p:txBody>
          <a:bodyPr vert="horz" lIns="91440" tIns="45720" rIns="91440" bIns="45720" rtlCol="0" anchor="b" anchorCtr="0"/>
          <a:lstStyle>
            <a:lvl1pPr algn="r">
              <a:defRPr sz="1200">
                <a:solidFill>
                  <a:schemeClr val="tx1">
                    <a:tint val="75000"/>
                  </a:schemeClr>
                </a:solidFill>
              </a:defRPr>
            </a:lvl1pPr>
          </a:lstStyle>
          <a:p>
            <a:fld id="{7FAE0778-D8E2-4E97-B7E5-02EA3F4B7C62}"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pouringmyartout.wordpress.com/2014/02/14/some-thoughts-on-valentines-day-part-6-and-i-swear-this-is-the-last-one/" TargetMode="External"/><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stackoverflow.com/questions/7747934/can-someone-explain-polymorphism-to-me"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stackoverflow.com/questions/7747934/can-someone-explain-polymorphism-to-m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stackoverflow.com/questions/7747934/can-someone-explain-polymorphism-to-m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stackoverflow.com/questions/210460/try-to-describe-polymorphism-as-easy-as-you-ca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8.w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0.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9.w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CPSC 462 – Software Design</a:t>
            </a:r>
          </a:p>
        </p:txBody>
      </p:sp>
      <p:sp>
        <p:nvSpPr>
          <p:cNvPr id="3" name="Subtitle 2"/>
          <p:cNvSpPr>
            <a:spLocks noGrp="1"/>
          </p:cNvSpPr>
          <p:nvPr>
            <p:ph type="subTitle" idx="1"/>
          </p:nvPr>
        </p:nvSpPr>
        <p:spPr>
          <a:xfrm>
            <a:off x="1828800" y="3025780"/>
            <a:ext cx="8534400" cy="1752600"/>
          </a:xfrm>
        </p:spPr>
        <p:txBody>
          <a:bodyPr/>
          <a:lstStyle/>
          <a:p>
            <a:r>
              <a:rPr lang="en-US" dirty="0"/>
              <a:t>Chapter 13</a:t>
            </a:r>
          </a:p>
          <a:p>
            <a:r>
              <a:rPr lang="en-US" dirty="0"/>
              <a:t>Polymorphism</a:t>
            </a:r>
          </a:p>
          <a:p>
            <a:r>
              <a:rPr lang="en-US" dirty="0"/>
              <a:t>Factory &amp; Abstract Factory Patterns</a:t>
            </a:r>
          </a:p>
          <a:p>
            <a:endParaRPr lang="en-US" dirty="0"/>
          </a:p>
        </p:txBody>
      </p:sp>
      <p:sp>
        <p:nvSpPr>
          <p:cNvPr id="4" name="Subtitle 2"/>
          <p:cNvSpPr txBox="1">
            <a:spLocks/>
          </p:cNvSpPr>
          <p:nvPr/>
        </p:nvSpPr>
        <p:spPr>
          <a:xfrm>
            <a:off x="2895600" y="5334000"/>
            <a:ext cx="6400800" cy="1143000"/>
          </a:xfrm>
          <a:prstGeom prst="rect">
            <a:avLst/>
          </a:prstGeom>
        </p:spPr>
        <p:txBody>
          <a:bodyPr vert="horz" lIns="91440" tIns="45720" rIns="91440" bIns="45720" rtlCol="0">
            <a:normAutofit/>
          </a:bodyPr>
          <a:lstStyle/>
          <a:p>
            <a:pPr algn="ctr">
              <a:spcBef>
                <a:spcPct val="20000"/>
              </a:spcBef>
              <a:defRPr/>
            </a:pPr>
            <a:r>
              <a:rPr lang="en-US" sz="2000" i="1" dirty="0">
                <a:solidFill>
                  <a:schemeClr val="tx1">
                    <a:lumMod val="50000"/>
                    <a:lumOff val="50000"/>
                  </a:schemeClr>
                </a:solidFill>
                <a:latin typeface="Arial" pitchFamily="34" charset="0"/>
                <a:cs typeface="Arial" pitchFamily="34" charset="0"/>
              </a:rPr>
              <a:t>Professor T. L. Bettens</a:t>
            </a:r>
          </a:p>
          <a:p>
            <a:pPr algn="ctr">
              <a:spcBef>
                <a:spcPct val="20000"/>
              </a:spcBef>
              <a:defRPr/>
            </a:pPr>
            <a:r>
              <a:rPr lang="en-US" sz="2000" i="1" dirty="0">
                <a:solidFill>
                  <a:schemeClr val="tx1">
                    <a:lumMod val="50000"/>
                    <a:lumOff val="50000"/>
                  </a:schemeClr>
                </a:solidFill>
                <a:latin typeface="Arial" pitchFamily="34" charset="0"/>
                <a:cs typeface="Arial" pitchFamily="34" charset="0"/>
              </a:rPr>
              <a:t>Spring 2020</a:t>
            </a:r>
          </a:p>
        </p:txBody>
      </p:sp>
      <p:pic>
        <p:nvPicPr>
          <p:cNvPr id="5" name="Picture 4" descr="cusf-logo.png"/>
          <p:cNvPicPr>
            <a:picLocks noChangeAspect="1"/>
          </p:cNvPicPr>
          <p:nvPr/>
        </p:nvPicPr>
        <p:blipFill>
          <a:blip r:embed="rId3" cstate="print"/>
          <a:stretch>
            <a:fillRect/>
          </a:stretch>
        </p:blipFill>
        <p:spPr>
          <a:xfrm>
            <a:off x="4362450" y="838200"/>
            <a:ext cx="3467100" cy="781050"/>
          </a:xfrm>
          <a:prstGeom prst="rect">
            <a:avLst/>
          </a:prstGeom>
        </p:spPr>
      </p:pic>
      <p:cxnSp>
        <p:nvCxnSpPr>
          <p:cNvPr id="7" name="Straight Connector 6"/>
          <p:cNvCxnSpPr/>
          <p:nvPr/>
        </p:nvCxnSpPr>
        <p:spPr>
          <a:xfrm>
            <a:off x="4343400" y="1828800"/>
            <a:ext cx="3429000"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276D917-74BF-4595-9717-129B78D90A12}"/>
              </a:ext>
            </a:extLst>
          </p:cNvPr>
          <p:cNvPicPr>
            <a:picLocks noChangeAspect="1"/>
          </p:cNvPicPr>
          <p:nvPr/>
        </p:nvPicPr>
        <p:blipFill>
          <a:blip r:embed="rId2">
            <a:lum bright="70000" contrast="-70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438400" y="552450"/>
            <a:ext cx="7315200" cy="5753100"/>
          </a:xfrm>
          <a:prstGeom prst="rect">
            <a:avLst/>
          </a:prstGeom>
        </p:spPr>
      </p:pic>
      <p:sp>
        <p:nvSpPr>
          <p:cNvPr id="3" name="Date Placeholder 2">
            <a:extLst>
              <a:ext uri="{FF2B5EF4-FFF2-40B4-BE49-F238E27FC236}">
                <a16:creationId xmlns:a16="http://schemas.microsoft.com/office/drawing/2014/main" id="{D2130051-ADE7-4AA3-9C1E-84CB290C7219}"/>
              </a:ext>
            </a:extLst>
          </p:cNvPr>
          <p:cNvSpPr>
            <a:spLocks noGrp="1"/>
          </p:cNvSpPr>
          <p:nvPr>
            <p:ph type="dt" sz="half" idx="10"/>
          </p:nvPr>
        </p:nvSpPr>
        <p:spPr/>
        <p:txBody>
          <a:bodyPr/>
          <a:lstStyle/>
          <a:p>
            <a:r>
              <a:rPr lang="en-US"/>
              <a:t>Spring 2020</a:t>
            </a:r>
            <a:endParaRPr lang="en-US" dirty="0"/>
          </a:p>
        </p:txBody>
      </p:sp>
      <p:sp>
        <p:nvSpPr>
          <p:cNvPr id="4" name="Footer Placeholder 3">
            <a:extLst>
              <a:ext uri="{FF2B5EF4-FFF2-40B4-BE49-F238E27FC236}">
                <a16:creationId xmlns:a16="http://schemas.microsoft.com/office/drawing/2014/main" id="{3CEB399B-210C-4E9E-A380-C2559939BB33}"/>
              </a:ext>
            </a:extLst>
          </p:cNvPr>
          <p:cNvSpPr>
            <a:spLocks noGrp="1"/>
          </p:cNvSpPr>
          <p:nvPr>
            <p:ph type="ftr" sz="quarter" idx="11"/>
          </p:nvPr>
        </p:nvSpPr>
        <p:spPr/>
        <p:txBody>
          <a:bodyPr/>
          <a:lstStyle/>
          <a:p>
            <a:r>
              <a:rPr lang="en-US" dirty="0"/>
              <a:t>CPSC 462  T. L. Bettens</a:t>
            </a:r>
          </a:p>
        </p:txBody>
      </p:sp>
      <p:sp>
        <p:nvSpPr>
          <p:cNvPr id="5" name="Slide Number Placeholder 4">
            <a:extLst>
              <a:ext uri="{FF2B5EF4-FFF2-40B4-BE49-F238E27FC236}">
                <a16:creationId xmlns:a16="http://schemas.microsoft.com/office/drawing/2014/main" id="{AA7DF0C8-1295-4E8D-9063-289B6E241879}"/>
              </a:ext>
            </a:extLst>
          </p:cNvPr>
          <p:cNvSpPr>
            <a:spLocks noGrp="1"/>
          </p:cNvSpPr>
          <p:nvPr>
            <p:ph type="sldNum" sz="quarter" idx="12"/>
          </p:nvPr>
        </p:nvSpPr>
        <p:spPr/>
        <p:txBody>
          <a:bodyPr/>
          <a:lstStyle/>
          <a:p>
            <a:fld id="{7FAE0778-D8E2-4E97-B7E5-02EA3F4B7C62}" type="slidenum">
              <a:rPr lang="en-US" smtClean="0"/>
              <a:t>2</a:t>
            </a:fld>
            <a:endParaRPr lang="en-US" dirty="0"/>
          </a:p>
        </p:txBody>
      </p:sp>
      <p:sp>
        <p:nvSpPr>
          <p:cNvPr id="8" name="Rectangle 7">
            <a:extLst>
              <a:ext uri="{FF2B5EF4-FFF2-40B4-BE49-F238E27FC236}">
                <a16:creationId xmlns:a16="http://schemas.microsoft.com/office/drawing/2014/main" id="{AF1B60C7-8BE7-42DE-8BB2-940D354AD2B0}"/>
              </a:ext>
            </a:extLst>
          </p:cNvPr>
          <p:cNvSpPr/>
          <p:nvPr/>
        </p:nvSpPr>
        <p:spPr>
          <a:xfrm>
            <a:off x="304800" y="501651"/>
            <a:ext cx="11582400" cy="5170646"/>
          </a:xfrm>
          <a:prstGeom prst="rect">
            <a:avLst/>
          </a:prstGeom>
          <a:noFill/>
        </p:spPr>
        <p:txBody>
          <a:bodyPr wrap="square" lIns="91440" tIns="45720" rIns="91440" bIns="45720">
            <a:spAutoFit/>
          </a:bodyPr>
          <a:lstStyle/>
          <a:p>
            <a:pPr algn="ctr"/>
            <a:r>
              <a:rPr lang="en-US" sz="66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The most important thing you can learn in object-oriented analysis and design </a:t>
            </a:r>
          </a:p>
          <a:p>
            <a:pPr algn="ctr"/>
            <a:r>
              <a:rPr lang="en-US" sz="66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is</a:t>
            </a:r>
          </a:p>
          <a:p>
            <a:pPr algn="ctr"/>
            <a:r>
              <a:rPr lang="en-US" sz="6600" b="1" dirty="0">
                <a:ln w="12700">
                  <a:solidFill>
                    <a:schemeClr val="tx2">
                      <a:lumMod val="75000"/>
                    </a:schemeClr>
                  </a:solidFill>
                  <a:prstDash val="solid"/>
                </a:ln>
                <a:solidFill>
                  <a:srgbClr val="FF0000"/>
                </a:solidFill>
                <a:effectLst>
                  <a:outerShdw dist="38100" dir="2640000" algn="bl" rotWithShape="0">
                    <a:schemeClr val="tx2">
                      <a:lumMod val="75000"/>
                    </a:schemeClr>
                  </a:outerShdw>
                </a:effectLst>
              </a:rPr>
              <a:t>skillful responsibility assignment</a:t>
            </a:r>
            <a:endParaRPr lang="en-US" sz="6600" b="1" cap="none" spc="0" dirty="0">
              <a:ln w="12700">
                <a:solidFill>
                  <a:schemeClr val="tx2">
                    <a:lumMod val="75000"/>
                  </a:schemeClr>
                </a:solidFill>
                <a:prstDash val="solid"/>
              </a:ln>
              <a:solidFill>
                <a:srgbClr val="FF0000"/>
              </a:solidFill>
              <a:effectLst>
                <a:outerShdw dist="38100" dir="2640000" algn="bl" rotWithShape="0">
                  <a:schemeClr val="tx2">
                    <a:lumMod val="75000"/>
                  </a:schemeClr>
                </a:outerShdw>
              </a:effectLst>
            </a:endParaRPr>
          </a:p>
        </p:txBody>
      </p:sp>
    </p:spTree>
    <p:extLst>
      <p:ext uri="{BB962C8B-B14F-4D97-AF65-F5344CB8AC3E}">
        <p14:creationId xmlns:p14="http://schemas.microsoft.com/office/powerpoint/2010/main" val="856247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DB24AC64-E17D-4A18-8EBD-787E377D97F4}"/>
              </a:ext>
            </a:extLst>
          </p:cNvPr>
          <p:cNvSpPr>
            <a:spLocks noGrp="1"/>
          </p:cNvSpPr>
          <p:nvPr>
            <p:ph idx="1"/>
          </p:nvPr>
        </p:nvSpPr>
        <p:spPr>
          <a:xfrm>
            <a:off x="152400" y="2049461"/>
            <a:ext cx="11887200" cy="4198939"/>
          </a:xfrm>
        </p:spPr>
        <p:txBody>
          <a:bodyPr numCol="1">
            <a:normAutofit/>
          </a:bodyPr>
          <a:lstStyle/>
          <a:p>
            <a:r>
              <a:rPr lang="en-US" dirty="0"/>
              <a:t>Consider if you told somebody to "</a:t>
            </a:r>
            <a:r>
              <a:rPr lang="en-US" dirty="0">
                <a:solidFill>
                  <a:schemeClr val="accent4">
                    <a:lumMod val="75000"/>
                  </a:schemeClr>
                </a:solidFill>
              </a:rPr>
              <a:t>Go to the store and buy some of your favorite food for supper.</a:t>
            </a:r>
            <a:r>
              <a:rPr lang="en-US" dirty="0"/>
              <a:t>"</a:t>
            </a:r>
          </a:p>
          <a:p>
            <a:pPr lvl="1"/>
            <a:r>
              <a:rPr lang="en-US" dirty="0"/>
              <a:t>If you said this to a 14 year-old son, he'd probably ride his bike to the store, have to pay cash for the food, and you'd be having pizza for supper.</a:t>
            </a:r>
          </a:p>
          <a:p>
            <a:pPr lvl="1"/>
            <a:r>
              <a:rPr lang="en-US" dirty="0"/>
              <a:t>If you said it to your wife, she'd probably drive to the store, use a card to pay for the food, and you might be eating Chicken Cordon Bleu with Chardonnay instead.</a:t>
            </a:r>
          </a:p>
        </p:txBody>
      </p:sp>
      <p:sp>
        <p:nvSpPr>
          <p:cNvPr id="3" name="Date Placeholder 2">
            <a:extLst>
              <a:ext uri="{FF2B5EF4-FFF2-40B4-BE49-F238E27FC236}">
                <a16:creationId xmlns:a16="http://schemas.microsoft.com/office/drawing/2014/main" id="{A95ACB8B-96E8-42DF-A53E-85E41BE20A77}"/>
              </a:ext>
            </a:extLst>
          </p:cNvPr>
          <p:cNvSpPr>
            <a:spLocks noGrp="1"/>
          </p:cNvSpPr>
          <p:nvPr>
            <p:ph type="dt" sz="half" idx="10"/>
          </p:nvPr>
        </p:nvSpPr>
        <p:spPr/>
        <p:txBody>
          <a:bodyPr/>
          <a:lstStyle/>
          <a:p>
            <a:r>
              <a:rPr lang="en-US"/>
              <a:t>Spring 2020</a:t>
            </a:r>
            <a:endParaRPr lang="en-US" dirty="0"/>
          </a:p>
        </p:txBody>
      </p:sp>
      <p:sp>
        <p:nvSpPr>
          <p:cNvPr id="4" name="Footer Placeholder 3">
            <a:extLst>
              <a:ext uri="{FF2B5EF4-FFF2-40B4-BE49-F238E27FC236}">
                <a16:creationId xmlns:a16="http://schemas.microsoft.com/office/drawing/2014/main" id="{3F433BA5-C166-4A50-9970-2EA263A714AD}"/>
              </a:ext>
            </a:extLst>
          </p:cNvPr>
          <p:cNvSpPr>
            <a:spLocks noGrp="1"/>
          </p:cNvSpPr>
          <p:nvPr>
            <p:ph type="ftr" sz="quarter" idx="11"/>
          </p:nvPr>
        </p:nvSpPr>
        <p:spPr/>
        <p:txBody>
          <a:bodyPr/>
          <a:lstStyle/>
          <a:p>
            <a:r>
              <a:rPr lang="en-US" dirty="0"/>
              <a:t>CPSC 462  T. L. Bettens</a:t>
            </a:r>
          </a:p>
        </p:txBody>
      </p:sp>
      <p:sp>
        <p:nvSpPr>
          <p:cNvPr id="5" name="Slide Number Placeholder 4">
            <a:extLst>
              <a:ext uri="{FF2B5EF4-FFF2-40B4-BE49-F238E27FC236}">
                <a16:creationId xmlns:a16="http://schemas.microsoft.com/office/drawing/2014/main" id="{1F429E13-25BD-4FCB-BB1F-63F85B2401B7}"/>
              </a:ext>
            </a:extLst>
          </p:cNvPr>
          <p:cNvSpPr>
            <a:spLocks noGrp="1"/>
          </p:cNvSpPr>
          <p:nvPr>
            <p:ph type="sldNum" sz="quarter" idx="12"/>
          </p:nvPr>
        </p:nvSpPr>
        <p:spPr/>
        <p:txBody>
          <a:bodyPr/>
          <a:lstStyle/>
          <a:p>
            <a:fld id="{7FAE0778-D8E2-4E97-B7E5-02EA3F4B7C62}" type="slidenum">
              <a:rPr lang="en-US" smtClean="0"/>
              <a:pPr/>
              <a:t>3</a:t>
            </a:fld>
            <a:endParaRPr lang="en-US" dirty="0"/>
          </a:p>
        </p:txBody>
      </p:sp>
      <p:sp>
        <p:nvSpPr>
          <p:cNvPr id="6" name="Title 5">
            <a:extLst>
              <a:ext uri="{FF2B5EF4-FFF2-40B4-BE49-F238E27FC236}">
                <a16:creationId xmlns:a16="http://schemas.microsoft.com/office/drawing/2014/main" id="{378FCD63-E5FB-4FFB-9270-DFF182E58E7A}"/>
              </a:ext>
            </a:extLst>
          </p:cNvPr>
          <p:cNvSpPr>
            <a:spLocks noGrp="1"/>
          </p:cNvSpPr>
          <p:nvPr>
            <p:ph type="title"/>
          </p:nvPr>
        </p:nvSpPr>
        <p:spPr/>
        <p:txBody>
          <a:bodyPr>
            <a:normAutofit fontScale="90000"/>
          </a:bodyPr>
          <a:lstStyle/>
          <a:p>
            <a:pPr>
              <a:lnSpc>
                <a:spcPct val="90000"/>
              </a:lnSpc>
            </a:pPr>
            <a:r>
              <a:rPr lang="en-US" dirty="0"/>
              <a:t>Definitions</a:t>
            </a:r>
            <a:br>
              <a:rPr lang="en-US" dirty="0"/>
            </a:br>
            <a:r>
              <a:rPr lang="en-US" i="1" dirty="0"/>
              <a:t>Can someone explain Polymorphism to me?</a:t>
            </a:r>
          </a:p>
        </p:txBody>
      </p:sp>
      <p:sp>
        <p:nvSpPr>
          <p:cNvPr id="16" name="Rectangle 15">
            <a:extLst>
              <a:ext uri="{FF2B5EF4-FFF2-40B4-BE49-F238E27FC236}">
                <a16:creationId xmlns:a16="http://schemas.microsoft.com/office/drawing/2014/main" id="{BEC8EDAC-2233-4C9C-B139-6738E0972ECD}"/>
              </a:ext>
            </a:extLst>
          </p:cNvPr>
          <p:cNvSpPr/>
          <p:nvPr/>
        </p:nvSpPr>
        <p:spPr>
          <a:xfrm>
            <a:off x="3505200" y="5962437"/>
            <a:ext cx="8915400" cy="369332"/>
          </a:xfrm>
          <a:prstGeom prst="rect">
            <a:avLst/>
          </a:prstGeom>
        </p:spPr>
        <p:txBody>
          <a:bodyPr wrap="square">
            <a:spAutoFit/>
          </a:bodyPr>
          <a:lstStyle/>
          <a:p>
            <a:r>
              <a:rPr lang="en-US" dirty="0">
                <a:hlinkClick r:id="rId2"/>
              </a:rPr>
              <a:t>https://stackoverflow.com/questions/7747934/can-someone-explain-polymorphism-to-me</a:t>
            </a:r>
            <a:r>
              <a:rPr lang="en-US" dirty="0"/>
              <a:t> </a:t>
            </a:r>
          </a:p>
        </p:txBody>
      </p:sp>
      <p:sp>
        <p:nvSpPr>
          <p:cNvPr id="17" name="Rectangle 16">
            <a:extLst>
              <a:ext uri="{FF2B5EF4-FFF2-40B4-BE49-F238E27FC236}">
                <a16:creationId xmlns:a16="http://schemas.microsoft.com/office/drawing/2014/main" id="{A1FF0D97-9034-4FC3-8AEB-018342955397}"/>
              </a:ext>
            </a:extLst>
          </p:cNvPr>
          <p:cNvSpPr/>
          <p:nvPr/>
        </p:nvSpPr>
        <p:spPr>
          <a:xfrm>
            <a:off x="152400" y="1371600"/>
            <a:ext cx="11887200" cy="707886"/>
          </a:xfrm>
          <a:prstGeom prst="rect">
            <a:avLst/>
          </a:prstGeom>
        </p:spPr>
        <p:txBody>
          <a:bodyPr wrap="square">
            <a:spAutoFit/>
          </a:bodyPr>
          <a:lstStyle/>
          <a:p>
            <a:pPr algn="ctr"/>
            <a:r>
              <a:rPr lang="en-US" sz="4000" i="1" dirty="0">
                <a:solidFill>
                  <a:schemeClr val="accent6">
                    <a:lumMod val="75000"/>
                  </a:schemeClr>
                </a:solidFill>
              </a:rPr>
              <a:t>Easiest to start with a non-computer analogy:</a:t>
            </a:r>
          </a:p>
        </p:txBody>
      </p:sp>
    </p:spTree>
    <p:extLst>
      <p:ext uri="{BB962C8B-B14F-4D97-AF65-F5344CB8AC3E}">
        <p14:creationId xmlns:p14="http://schemas.microsoft.com/office/powerpoint/2010/main" val="407879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DB24AC64-E17D-4A18-8EBD-787E377D97F4}"/>
              </a:ext>
            </a:extLst>
          </p:cNvPr>
          <p:cNvSpPr>
            <a:spLocks noGrp="1"/>
          </p:cNvSpPr>
          <p:nvPr>
            <p:ph idx="1"/>
          </p:nvPr>
        </p:nvSpPr>
        <p:spPr>
          <a:xfrm>
            <a:off x="152400" y="1676400"/>
            <a:ext cx="11887200" cy="5059362"/>
          </a:xfrm>
        </p:spPr>
        <p:txBody>
          <a:bodyPr numCol="1">
            <a:normAutofit/>
          </a:bodyPr>
          <a:lstStyle/>
          <a:p>
            <a:r>
              <a:rPr lang="en-US" sz="3600" dirty="0"/>
              <a:t>In a program, things work out a bit the same way: </a:t>
            </a:r>
          </a:p>
          <a:p>
            <a:pPr lvl="1"/>
            <a:r>
              <a:rPr lang="en-US" sz="3200" dirty="0"/>
              <a:t>You specify something at a relatively abstract level </a:t>
            </a:r>
          </a:p>
          <a:p>
            <a:pPr lvl="2"/>
            <a:r>
              <a:rPr lang="en-US" sz="2800" dirty="0"/>
              <a:t>go to the store and get supper</a:t>
            </a:r>
          </a:p>
          <a:p>
            <a:pPr lvl="1"/>
            <a:r>
              <a:rPr lang="en-US" sz="3200" dirty="0"/>
              <a:t>Each object provides its own concrete implementation of how to implement that, …</a:t>
            </a:r>
          </a:p>
          <a:p>
            <a:pPr lvl="1"/>
            <a:r>
              <a:rPr lang="en-US" sz="3200" dirty="0"/>
              <a:t>… and provides for some variation in exactly what it's going to do </a:t>
            </a:r>
          </a:p>
          <a:p>
            <a:pPr marL="914400" lvl="2" indent="0">
              <a:buNone/>
            </a:pPr>
            <a:r>
              <a:rPr lang="en-US" dirty="0"/>
              <a:t>● Bike vs drive    ●  Cash vs card    ● Pizza vs chicken Cordon Bleu with Chardonnay</a:t>
            </a:r>
          </a:p>
          <a:p>
            <a:pPr lvl="2"/>
            <a:endParaRPr lang="en-US" dirty="0"/>
          </a:p>
          <a:p>
            <a:endParaRPr lang="en-US" sz="3600" dirty="0"/>
          </a:p>
        </p:txBody>
      </p:sp>
      <p:sp>
        <p:nvSpPr>
          <p:cNvPr id="3" name="Date Placeholder 2">
            <a:extLst>
              <a:ext uri="{FF2B5EF4-FFF2-40B4-BE49-F238E27FC236}">
                <a16:creationId xmlns:a16="http://schemas.microsoft.com/office/drawing/2014/main" id="{A95ACB8B-96E8-42DF-A53E-85E41BE20A77}"/>
              </a:ext>
            </a:extLst>
          </p:cNvPr>
          <p:cNvSpPr>
            <a:spLocks noGrp="1"/>
          </p:cNvSpPr>
          <p:nvPr>
            <p:ph type="dt" sz="half" idx="10"/>
          </p:nvPr>
        </p:nvSpPr>
        <p:spPr/>
        <p:txBody>
          <a:bodyPr/>
          <a:lstStyle/>
          <a:p>
            <a:r>
              <a:rPr lang="en-US"/>
              <a:t>Spring 2020</a:t>
            </a:r>
            <a:endParaRPr lang="en-US" dirty="0"/>
          </a:p>
        </p:txBody>
      </p:sp>
      <p:sp>
        <p:nvSpPr>
          <p:cNvPr id="4" name="Footer Placeholder 3">
            <a:extLst>
              <a:ext uri="{FF2B5EF4-FFF2-40B4-BE49-F238E27FC236}">
                <a16:creationId xmlns:a16="http://schemas.microsoft.com/office/drawing/2014/main" id="{3F433BA5-C166-4A50-9970-2EA263A714AD}"/>
              </a:ext>
            </a:extLst>
          </p:cNvPr>
          <p:cNvSpPr>
            <a:spLocks noGrp="1"/>
          </p:cNvSpPr>
          <p:nvPr>
            <p:ph type="ftr" sz="quarter" idx="11"/>
          </p:nvPr>
        </p:nvSpPr>
        <p:spPr/>
        <p:txBody>
          <a:bodyPr/>
          <a:lstStyle/>
          <a:p>
            <a:r>
              <a:rPr lang="en-US" dirty="0"/>
              <a:t>CPSC 462  T. L. Bettens</a:t>
            </a:r>
          </a:p>
        </p:txBody>
      </p:sp>
      <p:sp>
        <p:nvSpPr>
          <p:cNvPr id="5" name="Slide Number Placeholder 4">
            <a:extLst>
              <a:ext uri="{FF2B5EF4-FFF2-40B4-BE49-F238E27FC236}">
                <a16:creationId xmlns:a16="http://schemas.microsoft.com/office/drawing/2014/main" id="{1F429E13-25BD-4FCB-BB1F-63F85B2401B7}"/>
              </a:ext>
            </a:extLst>
          </p:cNvPr>
          <p:cNvSpPr>
            <a:spLocks noGrp="1"/>
          </p:cNvSpPr>
          <p:nvPr>
            <p:ph type="sldNum" sz="quarter" idx="12"/>
          </p:nvPr>
        </p:nvSpPr>
        <p:spPr/>
        <p:txBody>
          <a:bodyPr/>
          <a:lstStyle/>
          <a:p>
            <a:fld id="{7FAE0778-D8E2-4E97-B7E5-02EA3F4B7C62}" type="slidenum">
              <a:rPr lang="en-US" smtClean="0"/>
              <a:pPr/>
              <a:t>4</a:t>
            </a:fld>
            <a:endParaRPr lang="en-US" dirty="0"/>
          </a:p>
        </p:txBody>
      </p:sp>
      <p:sp>
        <p:nvSpPr>
          <p:cNvPr id="6" name="Title 5">
            <a:extLst>
              <a:ext uri="{FF2B5EF4-FFF2-40B4-BE49-F238E27FC236}">
                <a16:creationId xmlns:a16="http://schemas.microsoft.com/office/drawing/2014/main" id="{378FCD63-E5FB-4FFB-9270-DFF182E58E7A}"/>
              </a:ext>
            </a:extLst>
          </p:cNvPr>
          <p:cNvSpPr>
            <a:spLocks noGrp="1"/>
          </p:cNvSpPr>
          <p:nvPr>
            <p:ph type="title"/>
          </p:nvPr>
        </p:nvSpPr>
        <p:spPr/>
        <p:txBody>
          <a:bodyPr>
            <a:normAutofit fontScale="90000"/>
          </a:bodyPr>
          <a:lstStyle/>
          <a:p>
            <a:pPr>
              <a:lnSpc>
                <a:spcPct val="90000"/>
              </a:lnSpc>
            </a:pPr>
            <a:r>
              <a:rPr lang="en-US" dirty="0"/>
              <a:t>Definitions</a:t>
            </a:r>
            <a:br>
              <a:rPr lang="en-US" dirty="0"/>
            </a:br>
            <a:r>
              <a:rPr lang="en-US" i="1" dirty="0"/>
              <a:t>Can someone explain Polymorphism to me?</a:t>
            </a:r>
          </a:p>
        </p:txBody>
      </p:sp>
      <p:sp>
        <p:nvSpPr>
          <p:cNvPr id="16" name="Rectangle 15">
            <a:extLst>
              <a:ext uri="{FF2B5EF4-FFF2-40B4-BE49-F238E27FC236}">
                <a16:creationId xmlns:a16="http://schemas.microsoft.com/office/drawing/2014/main" id="{BEC8EDAC-2233-4C9C-B139-6738E0972ECD}"/>
              </a:ext>
            </a:extLst>
          </p:cNvPr>
          <p:cNvSpPr/>
          <p:nvPr/>
        </p:nvSpPr>
        <p:spPr>
          <a:xfrm>
            <a:off x="3505200" y="5962437"/>
            <a:ext cx="8915400" cy="369332"/>
          </a:xfrm>
          <a:prstGeom prst="rect">
            <a:avLst/>
          </a:prstGeom>
        </p:spPr>
        <p:txBody>
          <a:bodyPr wrap="square">
            <a:spAutoFit/>
          </a:bodyPr>
          <a:lstStyle/>
          <a:p>
            <a:r>
              <a:rPr lang="en-US" dirty="0">
                <a:hlinkClick r:id="rId2"/>
              </a:rPr>
              <a:t>https://stackoverflow.com/questions/7747934/can-someone-explain-polymorphism-to-me</a:t>
            </a:r>
            <a:r>
              <a:rPr lang="en-US" dirty="0"/>
              <a:t> </a:t>
            </a:r>
          </a:p>
        </p:txBody>
      </p:sp>
    </p:spTree>
    <p:extLst>
      <p:ext uri="{BB962C8B-B14F-4D97-AF65-F5344CB8AC3E}">
        <p14:creationId xmlns:p14="http://schemas.microsoft.com/office/powerpoint/2010/main" val="914544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DB24AC64-E17D-4A18-8EBD-787E377D97F4}"/>
              </a:ext>
            </a:extLst>
          </p:cNvPr>
          <p:cNvSpPr>
            <a:spLocks noGrp="1"/>
          </p:cNvSpPr>
          <p:nvPr>
            <p:ph idx="1"/>
          </p:nvPr>
        </p:nvSpPr>
        <p:spPr>
          <a:xfrm>
            <a:off x="152400" y="1417638"/>
            <a:ext cx="11887200" cy="5059362"/>
          </a:xfrm>
        </p:spPr>
        <p:txBody>
          <a:bodyPr numCol="1">
            <a:normAutofit fontScale="92500" lnSpcReduction="20000"/>
          </a:bodyPr>
          <a:lstStyle/>
          <a:p>
            <a:r>
              <a:rPr lang="en-US" sz="2800" dirty="0"/>
              <a:t>In a program, things work out a bit the same way: </a:t>
            </a:r>
          </a:p>
          <a:p>
            <a:pPr lvl="1"/>
            <a:r>
              <a:rPr lang="en-US" sz="2400" dirty="0"/>
              <a:t>You specify something at a relatively abstract level (go to the store and get supper)</a:t>
            </a:r>
          </a:p>
          <a:p>
            <a:pPr lvl="1"/>
            <a:r>
              <a:rPr lang="en-US" sz="2400" dirty="0"/>
              <a:t>Each object provides its own concrete implementation of how to implement that, …</a:t>
            </a:r>
          </a:p>
          <a:p>
            <a:pPr lvl="1"/>
            <a:r>
              <a:rPr lang="en-US" sz="2400" dirty="0"/>
              <a:t>… and in many cases provides for some variation in exactly what it's going to do </a:t>
            </a:r>
          </a:p>
          <a:p>
            <a:pPr lvl="2"/>
            <a:r>
              <a:rPr lang="en-US" sz="1800" dirty="0"/>
              <a:t>The differences in favorite foods above</a:t>
            </a:r>
          </a:p>
          <a:p>
            <a:endParaRPr lang="en-US" sz="2800" dirty="0"/>
          </a:p>
          <a:p>
            <a:r>
              <a:rPr lang="en-US" sz="2800" dirty="0"/>
              <a:t>Of course, when you're programming, most of that requires a specification that's a lot more detailed and unambiguous. The general idea remains the same though. For the scenario above, you might have a person base class (or interface) that defined methods like go to store and select favorite food and pay for purchase. You'd then have implementations of that like adult and teenager, each of which defined its own method of going to the store, selecting favorite food, and paying for a purchase. Those methods would be polymorphic, because each implementation would have its own way of carrying out the higher-level command you gave.</a:t>
            </a:r>
          </a:p>
        </p:txBody>
      </p:sp>
      <p:sp>
        <p:nvSpPr>
          <p:cNvPr id="3" name="Date Placeholder 2">
            <a:extLst>
              <a:ext uri="{FF2B5EF4-FFF2-40B4-BE49-F238E27FC236}">
                <a16:creationId xmlns:a16="http://schemas.microsoft.com/office/drawing/2014/main" id="{A95ACB8B-96E8-42DF-A53E-85E41BE20A77}"/>
              </a:ext>
            </a:extLst>
          </p:cNvPr>
          <p:cNvSpPr>
            <a:spLocks noGrp="1"/>
          </p:cNvSpPr>
          <p:nvPr>
            <p:ph type="dt" sz="half" idx="10"/>
          </p:nvPr>
        </p:nvSpPr>
        <p:spPr/>
        <p:txBody>
          <a:bodyPr/>
          <a:lstStyle/>
          <a:p>
            <a:r>
              <a:rPr lang="en-US"/>
              <a:t>Spring 2020</a:t>
            </a:r>
            <a:endParaRPr lang="en-US" dirty="0"/>
          </a:p>
        </p:txBody>
      </p:sp>
      <p:sp>
        <p:nvSpPr>
          <p:cNvPr id="4" name="Footer Placeholder 3">
            <a:extLst>
              <a:ext uri="{FF2B5EF4-FFF2-40B4-BE49-F238E27FC236}">
                <a16:creationId xmlns:a16="http://schemas.microsoft.com/office/drawing/2014/main" id="{3F433BA5-C166-4A50-9970-2EA263A714AD}"/>
              </a:ext>
            </a:extLst>
          </p:cNvPr>
          <p:cNvSpPr>
            <a:spLocks noGrp="1"/>
          </p:cNvSpPr>
          <p:nvPr>
            <p:ph type="ftr" sz="quarter" idx="11"/>
          </p:nvPr>
        </p:nvSpPr>
        <p:spPr/>
        <p:txBody>
          <a:bodyPr/>
          <a:lstStyle/>
          <a:p>
            <a:r>
              <a:rPr lang="en-US" dirty="0"/>
              <a:t>CPSC 462  T. L. Bettens</a:t>
            </a:r>
          </a:p>
        </p:txBody>
      </p:sp>
      <p:sp>
        <p:nvSpPr>
          <p:cNvPr id="5" name="Slide Number Placeholder 4">
            <a:extLst>
              <a:ext uri="{FF2B5EF4-FFF2-40B4-BE49-F238E27FC236}">
                <a16:creationId xmlns:a16="http://schemas.microsoft.com/office/drawing/2014/main" id="{1F429E13-25BD-4FCB-BB1F-63F85B2401B7}"/>
              </a:ext>
            </a:extLst>
          </p:cNvPr>
          <p:cNvSpPr>
            <a:spLocks noGrp="1"/>
          </p:cNvSpPr>
          <p:nvPr>
            <p:ph type="sldNum" sz="quarter" idx="12"/>
          </p:nvPr>
        </p:nvSpPr>
        <p:spPr/>
        <p:txBody>
          <a:bodyPr/>
          <a:lstStyle/>
          <a:p>
            <a:fld id="{7FAE0778-D8E2-4E97-B7E5-02EA3F4B7C62}" type="slidenum">
              <a:rPr lang="en-US" smtClean="0"/>
              <a:pPr/>
              <a:t>5</a:t>
            </a:fld>
            <a:endParaRPr lang="en-US" dirty="0"/>
          </a:p>
        </p:txBody>
      </p:sp>
      <p:sp>
        <p:nvSpPr>
          <p:cNvPr id="6" name="Title 5">
            <a:extLst>
              <a:ext uri="{FF2B5EF4-FFF2-40B4-BE49-F238E27FC236}">
                <a16:creationId xmlns:a16="http://schemas.microsoft.com/office/drawing/2014/main" id="{378FCD63-E5FB-4FFB-9270-DFF182E58E7A}"/>
              </a:ext>
            </a:extLst>
          </p:cNvPr>
          <p:cNvSpPr>
            <a:spLocks noGrp="1"/>
          </p:cNvSpPr>
          <p:nvPr>
            <p:ph type="title"/>
          </p:nvPr>
        </p:nvSpPr>
        <p:spPr/>
        <p:txBody>
          <a:bodyPr>
            <a:normAutofit fontScale="90000"/>
          </a:bodyPr>
          <a:lstStyle/>
          <a:p>
            <a:pPr>
              <a:lnSpc>
                <a:spcPct val="90000"/>
              </a:lnSpc>
            </a:pPr>
            <a:r>
              <a:rPr lang="en-US" dirty="0"/>
              <a:t>Definitions</a:t>
            </a:r>
            <a:br>
              <a:rPr lang="en-US" dirty="0"/>
            </a:br>
            <a:r>
              <a:rPr lang="en-US" i="1" dirty="0"/>
              <a:t>Can someone explain Polymorphism to me?</a:t>
            </a:r>
          </a:p>
        </p:txBody>
      </p:sp>
      <p:sp>
        <p:nvSpPr>
          <p:cNvPr id="16" name="Rectangle 15">
            <a:extLst>
              <a:ext uri="{FF2B5EF4-FFF2-40B4-BE49-F238E27FC236}">
                <a16:creationId xmlns:a16="http://schemas.microsoft.com/office/drawing/2014/main" id="{BEC8EDAC-2233-4C9C-B139-6738E0972ECD}"/>
              </a:ext>
            </a:extLst>
          </p:cNvPr>
          <p:cNvSpPr/>
          <p:nvPr/>
        </p:nvSpPr>
        <p:spPr>
          <a:xfrm>
            <a:off x="3505200" y="5962437"/>
            <a:ext cx="8915400" cy="369332"/>
          </a:xfrm>
          <a:prstGeom prst="rect">
            <a:avLst/>
          </a:prstGeom>
        </p:spPr>
        <p:txBody>
          <a:bodyPr wrap="square">
            <a:spAutoFit/>
          </a:bodyPr>
          <a:lstStyle/>
          <a:p>
            <a:r>
              <a:rPr lang="en-US" dirty="0">
                <a:hlinkClick r:id="rId2"/>
              </a:rPr>
              <a:t>https://stackoverflow.com/questions/7747934/can-someone-explain-polymorphism-to-me</a:t>
            </a:r>
            <a:r>
              <a:rPr lang="en-US" dirty="0"/>
              <a:t> </a:t>
            </a:r>
          </a:p>
        </p:txBody>
      </p:sp>
    </p:spTree>
    <p:extLst>
      <p:ext uri="{BB962C8B-B14F-4D97-AF65-F5344CB8AC3E}">
        <p14:creationId xmlns:p14="http://schemas.microsoft.com/office/powerpoint/2010/main" val="3328131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DB24AC64-E17D-4A18-8EBD-787E377D97F4}"/>
              </a:ext>
            </a:extLst>
          </p:cNvPr>
          <p:cNvSpPr>
            <a:spLocks noGrp="1"/>
          </p:cNvSpPr>
          <p:nvPr>
            <p:ph idx="1"/>
          </p:nvPr>
        </p:nvSpPr>
        <p:spPr>
          <a:xfrm>
            <a:off x="152400" y="1646238"/>
            <a:ext cx="11887200" cy="5059362"/>
          </a:xfrm>
        </p:spPr>
        <p:txBody>
          <a:bodyPr numCol="1">
            <a:normAutofit/>
          </a:bodyPr>
          <a:lstStyle/>
          <a:p>
            <a:pPr marL="0" indent="0" algn="ctr">
              <a:buNone/>
            </a:pPr>
            <a:r>
              <a:rPr lang="en-US" dirty="0"/>
              <a:t>Friendship – one word, many meanings</a:t>
            </a:r>
          </a:p>
          <a:p>
            <a:endParaRPr lang="en-US" dirty="0"/>
          </a:p>
          <a:p>
            <a:r>
              <a:rPr lang="en-US" dirty="0"/>
              <a:t>A boy starts LOVE with the word FRIENDSHIP but </a:t>
            </a:r>
          </a:p>
          <a:p>
            <a:r>
              <a:rPr lang="en-US" dirty="0"/>
              <a:t>A girl ends LOVE with the same word FRIENDSHIP</a:t>
            </a:r>
          </a:p>
          <a:p>
            <a:endParaRPr lang="en-US" dirty="0"/>
          </a:p>
          <a:p>
            <a:r>
              <a:rPr lang="en-US" dirty="0"/>
              <a:t>Word is the same, but functionality is different. That's polymorphism</a:t>
            </a:r>
          </a:p>
        </p:txBody>
      </p:sp>
      <p:sp>
        <p:nvSpPr>
          <p:cNvPr id="3" name="Date Placeholder 2">
            <a:extLst>
              <a:ext uri="{FF2B5EF4-FFF2-40B4-BE49-F238E27FC236}">
                <a16:creationId xmlns:a16="http://schemas.microsoft.com/office/drawing/2014/main" id="{A95ACB8B-96E8-42DF-A53E-85E41BE20A77}"/>
              </a:ext>
            </a:extLst>
          </p:cNvPr>
          <p:cNvSpPr>
            <a:spLocks noGrp="1"/>
          </p:cNvSpPr>
          <p:nvPr>
            <p:ph type="dt" sz="half" idx="10"/>
          </p:nvPr>
        </p:nvSpPr>
        <p:spPr/>
        <p:txBody>
          <a:bodyPr/>
          <a:lstStyle/>
          <a:p>
            <a:r>
              <a:rPr lang="en-US"/>
              <a:t>Spring 2020</a:t>
            </a:r>
            <a:endParaRPr lang="en-US" dirty="0"/>
          </a:p>
        </p:txBody>
      </p:sp>
      <p:sp>
        <p:nvSpPr>
          <p:cNvPr id="4" name="Footer Placeholder 3">
            <a:extLst>
              <a:ext uri="{FF2B5EF4-FFF2-40B4-BE49-F238E27FC236}">
                <a16:creationId xmlns:a16="http://schemas.microsoft.com/office/drawing/2014/main" id="{3F433BA5-C166-4A50-9970-2EA263A714AD}"/>
              </a:ext>
            </a:extLst>
          </p:cNvPr>
          <p:cNvSpPr>
            <a:spLocks noGrp="1"/>
          </p:cNvSpPr>
          <p:nvPr>
            <p:ph type="ftr" sz="quarter" idx="11"/>
          </p:nvPr>
        </p:nvSpPr>
        <p:spPr/>
        <p:txBody>
          <a:bodyPr/>
          <a:lstStyle/>
          <a:p>
            <a:r>
              <a:rPr lang="en-US" dirty="0"/>
              <a:t>CPSC 462  T. L. Bettens</a:t>
            </a:r>
          </a:p>
        </p:txBody>
      </p:sp>
      <p:sp>
        <p:nvSpPr>
          <p:cNvPr id="5" name="Slide Number Placeholder 4">
            <a:extLst>
              <a:ext uri="{FF2B5EF4-FFF2-40B4-BE49-F238E27FC236}">
                <a16:creationId xmlns:a16="http://schemas.microsoft.com/office/drawing/2014/main" id="{1F429E13-25BD-4FCB-BB1F-63F85B2401B7}"/>
              </a:ext>
            </a:extLst>
          </p:cNvPr>
          <p:cNvSpPr>
            <a:spLocks noGrp="1"/>
          </p:cNvSpPr>
          <p:nvPr>
            <p:ph type="sldNum" sz="quarter" idx="12"/>
          </p:nvPr>
        </p:nvSpPr>
        <p:spPr/>
        <p:txBody>
          <a:bodyPr/>
          <a:lstStyle/>
          <a:p>
            <a:fld id="{7FAE0778-D8E2-4E97-B7E5-02EA3F4B7C62}" type="slidenum">
              <a:rPr lang="en-US" smtClean="0"/>
              <a:pPr/>
              <a:t>6</a:t>
            </a:fld>
            <a:endParaRPr lang="en-US" dirty="0"/>
          </a:p>
        </p:txBody>
      </p:sp>
      <p:sp>
        <p:nvSpPr>
          <p:cNvPr id="6" name="Title 5">
            <a:extLst>
              <a:ext uri="{FF2B5EF4-FFF2-40B4-BE49-F238E27FC236}">
                <a16:creationId xmlns:a16="http://schemas.microsoft.com/office/drawing/2014/main" id="{378FCD63-E5FB-4FFB-9270-DFF182E58E7A}"/>
              </a:ext>
            </a:extLst>
          </p:cNvPr>
          <p:cNvSpPr>
            <a:spLocks noGrp="1"/>
          </p:cNvSpPr>
          <p:nvPr>
            <p:ph type="title"/>
          </p:nvPr>
        </p:nvSpPr>
        <p:spPr/>
        <p:txBody>
          <a:bodyPr>
            <a:normAutofit fontScale="90000"/>
          </a:bodyPr>
          <a:lstStyle/>
          <a:p>
            <a:pPr>
              <a:lnSpc>
                <a:spcPct val="90000"/>
              </a:lnSpc>
            </a:pPr>
            <a:r>
              <a:rPr lang="en-US" dirty="0"/>
              <a:t>Definitions</a:t>
            </a:r>
            <a:br>
              <a:rPr lang="en-US" dirty="0"/>
            </a:br>
            <a:r>
              <a:rPr lang="en-US" i="1" dirty="0"/>
              <a:t>Can someone explain Polymorphism to me?</a:t>
            </a:r>
          </a:p>
        </p:txBody>
      </p:sp>
      <p:sp>
        <p:nvSpPr>
          <p:cNvPr id="16" name="Rectangle 15">
            <a:extLst>
              <a:ext uri="{FF2B5EF4-FFF2-40B4-BE49-F238E27FC236}">
                <a16:creationId xmlns:a16="http://schemas.microsoft.com/office/drawing/2014/main" id="{BEC8EDAC-2233-4C9C-B139-6738E0972ECD}"/>
              </a:ext>
            </a:extLst>
          </p:cNvPr>
          <p:cNvSpPr/>
          <p:nvPr/>
        </p:nvSpPr>
        <p:spPr>
          <a:xfrm>
            <a:off x="2895600" y="5962437"/>
            <a:ext cx="9525000" cy="369332"/>
          </a:xfrm>
          <a:prstGeom prst="rect">
            <a:avLst/>
          </a:prstGeom>
        </p:spPr>
        <p:txBody>
          <a:bodyPr wrap="square">
            <a:spAutoFit/>
          </a:bodyPr>
          <a:lstStyle/>
          <a:p>
            <a:r>
              <a:rPr lang="en-US" dirty="0">
                <a:hlinkClick r:id="rId2"/>
              </a:rPr>
              <a:t>https://stackoverflow.com/questions/210460/try-to-describe-polymorphism-as-easy-as-you-can</a:t>
            </a:r>
            <a:r>
              <a:rPr lang="en-US" dirty="0"/>
              <a:t> </a:t>
            </a:r>
          </a:p>
        </p:txBody>
      </p:sp>
    </p:spTree>
    <p:extLst>
      <p:ext uri="{BB962C8B-B14F-4D97-AF65-F5344CB8AC3E}">
        <p14:creationId xmlns:p14="http://schemas.microsoft.com/office/powerpoint/2010/main" val="505954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91A7A0AF-3EDF-43DB-A4BB-D500E3372BA8}"/>
              </a:ext>
            </a:extLst>
          </p:cNvPr>
          <p:cNvSpPr>
            <a:spLocks noGrp="1"/>
          </p:cNvSpPr>
          <p:nvPr>
            <p:ph type="body" idx="1"/>
          </p:nvPr>
        </p:nvSpPr>
        <p:spPr>
          <a:xfrm>
            <a:off x="4523332" y="1447800"/>
            <a:ext cx="3481917" cy="639762"/>
          </a:xfrm>
        </p:spPr>
        <p:txBody>
          <a:bodyPr/>
          <a:lstStyle/>
          <a:p>
            <a:r>
              <a:rPr lang="en-US" dirty="0"/>
              <a:t>HAS-A</a:t>
            </a:r>
          </a:p>
        </p:txBody>
      </p:sp>
      <p:pic>
        <p:nvPicPr>
          <p:cNvPr id="14" name="Content Placeholder 13">
            <a:extLst>
              <a:ext uri="{FF2B5EF4-FFF2-40B4-BE49-F238E27FC236}">
                <a16:creationId xmlns:a16="http://schemas.microsoft.com/office/drawing/2014/main" id="{0E1245EE-1590-4FE6-84A5-51CD78DA3E8A}"/>
              </a:ext>
            </a:extLst>
          </p:cNvPr>
          <p:cNvPicPr>
            <a:picLocks noGrp="1" noChangeAspect="1"/>
          </p:cNvPicPr>
          <p:nvPr>
            <p:ph sz="half" idx="2"/>
          </p:nvPr>
        </p:nvPicPr>
        <p:blipFill>
          <a:blip r:embed="rId2"/>
          <a:stretch>
            <a:fillRect/>
          </a:stretch>
        </p:blipFill>
        <p:spPr>
          <a:xfrm>
            <a:off x="152400" y="381000"/>
            <a:ext cx="4370932" cy="5943600"/>
          </a:xfrm>
          <a:prstGeom prst="rect">
            <a:avLst/>
          </a:prstGeom>
        </p:spPr>
      </p:pic>
      <p:sp>
        <p:nvSpPr>
          <p:cNvPr id="16" name="Text Placeholder 15">
            <a:extLst>
              <a:ext uri="{FF2B5EF4-FFF2-40B4-BE49-F238E27FC236}">
                <a16:creationId xmlns:a16="http://schemas.microsoft.com/office/drawing/2014/main" id="{B6A6B662-8E49-448A-BC07-CFE9F7E822FF}"/>
              </a:ext>
            </a:extLst>
          </p:cNvPr>
          <p:cNvSpPr>
            <a:spLocks noGrp="1"/>
          </p:cNvSpPr>
          <p:nvPr>
            <p:ph type="body" sz="quarter" idx="3"/>
          </p:nvPr>
        </p:nvSpPr>
        <p:spPr>
          <a:xfrm>
            <a:off x="8555569" y="1447800"/>
            <a:ext cx="3481917" cy="639762"/>
          </a:xfrm>
        </p:spPr>
        <p:txBody>
          <a:bodyPr/>
          <a:lstStyle/>
          <a:p>
            <a:r>
              <a:rPr lang="en-US" dirty="0"/>
              <a:t>IS-A</a:t>
            </a:r>
          </a:p>
        </p:txBody>
      </p:sp>
      <p:sp>
        <p:nvSpPr>
          <p:cNvPr id="9" name="Content Placeholder 8">
            <a:extLst>
              <a:ext uri="{FF2B5EF4-FFF2-40B4-BE49-F238E27FC236}">
                <a16:creationId xmlns:a16="http://schemas.microsoft.com/office/drawing/2014/main" id="{1537D2AF-A090-4C89-B999-0894867C0C4C}"/>
              </a:ext>
            </a:extLst>
          </p:cNvPr>
          <p:cNvSpPr>
            <a:spLocks noGrp="1"/>
          </p:cNvSpPr>
          <p:nvPr>
            <p:ph sz="quarter" idx="4"/>
          </p:nvPr>
        </p:nvSpPr>
        <p:spPr>
          <a:xfrm>
            <a:off x="8555569" y="2087562"/>
            <a:ext cx="3481917" cy="4237038"/>
          </a:xfrm>
        </p:spPr>
        <p:txBody>
          <a:bodyPr/>
          <a:lstStyle/>
          <a:p>
            <a:r>
              <a:rPr lang="en-US" dirty="0" err="1"/>
              <a:t>WoodenDoor</a:t>
            </a:r>
            <a:r>
              <a:rPr lang="en-US" dirty="0"/>
              <a:t> “is-a”</a:t>
            </a:r>
          </a:p>
          <a:p>
            <a:pPr lvl="1"/>
            <a:r>
              <a:rPr lang="en-US" dirty="0"/>
              <a:t>Door</a:t>
            </a:r>
          </a:p>
        </p:txBody>
      </p:sp>
      <p:sp>
        <p:nvSpPr>
          <p:cNvPr id="3" name="Date Placeholder 2">
            <a:extLst>
              <a:ext uri="{FF2B5EF4-FFF2-40B4-BE49-F238E27FC236}">
                <a16:creationId xmlns:a16="http://schemas.microsoft.com/office/drawing/2014/main" id="{87BB7211-9EBF-4591-8529-ABFB43A8EE6B}"/>
              </a:ext>
            </a:extLst>
          </p:cNvPr>
          <p:cNvSpPr>
            <a:spLocks noGrp="1"/>
          </p:cNvSpPr>
          <p:nvPr>
            <p:ph type="dt" sz="half" idx="10"/>
          </p:nvPr>
        </p:nvSpPr>
        <p:spPr/>
        <p:txBody>
          <a:bodyPr/>
          <a:lstStyle/>
          <a:p>
            <a:r>
              <a:rPr lang="en-US"/>
              <a:t>Spring 2020</a:t>
            </a:r>
            <a:endParaRPr lang="en-US" dirty="0"/>
          </a:p>
        </p:txBody>
      </p:sp>
      <p:sp>
        <p:nvSpPr>
          <p:cNvPr id="4" name="Footer Placeholder 3">
            <a:extLst>
              <a:ext uri="{FF2B5EF4-FFF2-40B4-BE49-F238E27FC236}">
                <a16:creationId xmlns:a16="http://schemas.microsoft.com/office/drawing/2014/main" id="{F23EB7DB-BD4B-4CEA-9EDB-EFBD8C7912D8}"/>
              </a:ext>
            </a:extLst>
          </p:cNvPr>
          <p:cNvSpPr>
            <a:spLocks noGrp="1"/>
          </p:cNvSpPr>
          <p:nvPr>
            <p:ph type="ftr" sz="quarter" idx="11"/>
          </p:nvPr>
        </p:nvSpPr>
        <p:spPr/>
        <p:txBody>
          <a:bodyPr/>
          <a:lstStyle/>
          <a:p>
            <a:r>
              <a:rPr lang="en-US"/>
              <a:t>CPSC 462  T. L. Bettens</a:t>
            </a:r>
            <a:endParaRPr lang="en-US" dirty="0"/>
          </a:p>
        </p:txBody>
      </p:sp>
      <p:sp>
        <p:nvSpPr>
          <p:cNvPr id="5" name="Slide Number Placeholder 4">
            <a:extLst>
              <a:ext uri="{FF2B5EF4-FFF2-40B4-BE49-F238E27FC236}">
                <a16:creationId xmlns:a16="http://schemas.microsoft.com/office/drawing/2014/main" id="{08A95B67-92E8-417E-A1BA-EAD2CAAAB584}"/>
              </a:ext>
            </a:extLst>
          </p:cNvPr>
          <p:cNvSpPr>
            <a:spLocks noGrp="1"/>
          </p:cNvSpPr>
          <p:nvPr>
            <p:ph type="sldNum" sz="quarter" idx="12"/>
          </p:nvPr>
        </p:nvSpPr>
        <p:spPr/>
        <p:txBody>
          <a:bodyPr/>
          <a:lstStyle/>
          <a:p>
            <a:fld id="{7FAE0778-D8E2-4E97-B7E5-02EA3F4B7C62}" type="slidenum">
              <a:rPr lang="en-US" smtClean="0"/>
              <a:t>7</a:t>
            </a:fld>
            <a:endParaRPr lang="en-US" dirty="0"/>
          </a:p>
        </p:txBody>
      </p:sp>
      <p:sp>
        <p:nvSpPr>
          <p:cNvPr id="6" name="Title 5">
            <a:extLst>
              <a:ext uri="{FF2B5EF4-FFF2-40B4-BE49-F238E27FC236}">
                <a16:creationId xmlns:a16="http://schemas.microsoft.com/office/drawing/2014/main" id="{066CE462-582F-4C91-8437-85C31FD11763}"/>
              </a:ext>
            </a:extLst>
          </p:cNvPr>
          <p:cNvSpPr>
            <a:spLocks noGrp="1"/>
          </p:cNvSpPr>
          <p:nvPr>
            <p:ph type="title"/>
          </p:nvPr>
        </p:nvSpPr>
        <p:spPr/>
        <p:txBody>
          <a:bodyPr/>
          <a:lstStyle/>
          <a:p>
            <a:r>
              <a:rPr lang="en-US" dirty="0"/>
              <a:t>Has-a vs Is-a</a:t>
            </a:r>
          </a:p>
        </p:txBody>
      </p:sp>
      <p:sp>
        <p:nvSpPr>
          <p:cNvPr id="17" name="Content Placeholder 8">
            <a:extLst>
              <a:ext uri="{FF2B5EF4-FFF2-40B4-BE49-F238E27FC236}">
                <a16:creationId xmlns:a16="http://schemas.microsoft.com/office/drawing/2014/main" id="{D27356E6-AFE1-42F8-AB66-7E0E53B3C0CD}"/>
              </a:ext>
            </a:extLst>
          </p:cNvPr>
          <p:cNvSpPr txBox="1">
            <a:spLocks/>
          </p:cNvSpPr>
          <p:nvPr/>
        </p:nvSpPr>
        <p:spPr>
          <a:xfrm>
            <a:off x="4523331" y="2087562"/>
            <a:ext cx="3481917" cy="423703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r>
              <a:rPr lang="en-US" dirty="0"/>
              <a:t>Door “has-a”:</a:t>
            </a:r>
          </a:p>
          <a:p>
            <a:pPr lvl="1"/>
            <a:r>
              <a:rPr lang="en-US" dirty="0"/>
              <a:t>Height, length, width</a:t>
            </a:r>
          </a:p>
          <a:p>
            <a:endParaRPr lang="en-US" dirty="0"/>
          </a:p>
          <a:p>
            <a:r>
              <a:rPr lang="en-US" dirty="0" err="1"/>
              <a:t>WoodenDoor</a:t>
            </a:r>
            <a:r>
              <a:rPr lang="en-US" dirty="0"/>
              <a:t> “has-a”</a:t>
            </a:r>
          </a:p>
          <a:p>
            <a:pPr lvl="1"/>
            <a:r>
              <a:rPr lang="en-US" dirty="0"/>
              <a:t>Height, length, width</a:t>
            </a:r>
          </a:p>
          <a:p>
            <a:pPr lvl="1"/>
            <a:r>
              <a:rPr lang="en-US" dirty="0"/>
              <a:t>Counter, </a:t>
            </a:r>
            <a:r>
              <a:rPr lang="en-US" dirty="0" err="1"/>
              <a:t>doorID</a:t>
            </a:r>
            <a:endParaRPr lang="en-US" dirty="0"/>
          </a:p>
        </p:txBody>
      </p:sp>
    </p:spTree>
    <p:extLst>
      <p:ext uri="{BB962C8B-B14F-4D97-AF65-F5344CB8AC3E}">
        <p14:creationId xmlns:p14="http://schemas.microsoft.com/office/powerpoint/2010/main" val="2134363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1E34B344-7B4D-47C9-BF24-19C36BE5253A}"/>
              </a:ext>
            </a:extLst>
          </p:cNvPr>
          <p:cNvSpPr>
            <a:spLocks noGrp="1"/>
          </p:cNvSpPr>
          <p:nvPr>
            <p:ph idx="1"/>
          </p:nvPr>
        </p:nvSpPr>
        <p:spPr>
          <a:xfrm>
            <a:off x="152400" y="990600"/>
            <a:ext cx="11887200" cy="5365749"/>
          </a:xfrm>
        </p:spPr>
        <p:txBody>
          <a:bodyPr numCol="2">
            <a:normAutofit fontScale="92500" lnSpcReduction="10000"/>
          </a:bodyPr>
          <a:lstStyle/>
          <a:p>
            <a:r>
              <a:rPr lang="en-US" sz="4000" dirty="0"/>
              <a:t>1) </a:t>
            </a:r>
            <a:r>
              <a:rPr lang="en-US" sz="4000" dirty="0">
                <a:solidFill>
                  <a:schemeClr val="accent6">
                    <a:lumMod val="75000"/>
                  </a:schemeClr>
                </a:solidFill>
              </a:rPr>
              <a:t>The naive approach</a:t>
            </a:r>
          </a:p>
          <a:p>
            <a:pPr marL="971550" lvl="1" indent="-514350">
              <a:buFont typeface="+mj-lt"/>
              <a:buAutoNum type="alphaLcParenR"/>
            </a:pPr>
            <a:r>
              <a:rPr lang="en-US" sz="3600" dirty="0"/>
              <a:t>Download, compile, and run “</a:t>
            </a:r>
            <a:r>
              <a:rPr lang="en-US" sz="3600" u="sng" dirty="0"/>
              <a:t>main - don't do this getSupper.cpp</a:t>
            </a:r>
            <a:r>
              <a:rPr lang="en-US" sz="3600" dirty="0"/>
              <a:t>”</a:t>
            </a:r>
          </a:p>
          <a:p>
            <a:pPr marL="971550" lvl="1" indent="-514350">
              <a:buFont typeface="+mj-lt"/>
              <a:buAutoNum type="alphaLcParenR"/>
            </a:pPr>
            <a:endParaRPr lang="en-US" sz="3600" dirty="0"/>
          </a:p>
          <a:p>
            <a:pPr marL="971550" lvl="1" indent="-514350">
              <a:buFont typeface="+mj-lt"/>
              <a:buAutoNum type="alphaLcParenR"/>
            </a:pPr>
            <a:r>
              <a:rPr lang="en-US" sz="3600" dirty="0"/>
              <a:t>Add another kind of person, say a college student, that</a:t>
            </a:r>
          </a:p>
          <a:p>
            <a:pPr lvl="2"/>
            <a:r>
              <a:rPr lang="en-US" sz="3200" dirty="0"/>
              <a:t>Has food delivered, pays by </a:t>
            </a:r>
            <a:r>
              <a:rPr lang="en-US" sz="3200" dirty="0" err="1"/>
              <a:t>ApplePay</a:t>
            </a:r>
            <a:r>
              <a:rPr lang="en-US" sz="3200" dirty="0"/>
              <a:t>, and eats Ramen Noodles</a:t>
            </a:r>
          </a:p>
          <a:p>
            <a:pPr lvl="2"/>
            <a:r>
              <a:rPr lang="en-US" sz="3200" dirty="0"/>
              <a:t>Be sure to have each person (not just the one you added) </a:t>
            </a:r>
            <a:r>
              <a:rPr lang="en-US" sz="3200" dirty="0" err="1"/>
              <a:t>doSomething</a:t>
            </a:r>
            <a:r>
              <a:rPr lang="en-US" sz="3200" dirty="0"/>
              <a:t> in function main()</a:t>
            </a:r>
          </a:p>
          <a:p>
            <a:pPr lvl="2"/>
            <a:r>
              <a:rPr lang="en-US" sz="3200" dirty="0"/>
              <a:t>Compile and run</a:t>
            </a:r>
          </a:p>
          <a:p>
            <a:pPr marL="971550" lvl="1" indent="-514350">
              <a:buFont typeface="+mj-lt"/>
              <a:buAutoNum type="alphaLcParenR"/>
            </a:pPr>
            <a:endParaRPr lang="en-US" sz="3600" dirty="0"/>
          </a:p>
          <a:p>
            <a:pPr marL="971550" lvl="1" indent="-514350">
              <a:buFont typeface="+mj-lt"/>
              <a:buAutoNum type="alphaLcParenR"/>
            </a:pPr>
            <a:r>
              <a:rPr lang="en-US" sz="3600" dirty="0"/>
              <a:t>Again, add another kind of person, this time your choice</a:t>
            </a:r>
          </a:p>
          <a:p>
            <a:pPr lvl="2"/>
            <a:r>
              <a:rPr lang="en-US" sz="3200" dirty="0"/>
              <a:t>Repeat above steps</a:t>
            </a:r>
          </a:p>
        </p:txBody>
      </p:sp>
      <p:sp>
        <p:nvSpPr>
          <p:cNvPr id="6" name="Date Placeholder 5">
            <a:extLst>
              <a:ext uri="{FF2B5EF4-FFF2-40B4-BE49-F238E27FC236}">
                <a16:creationId xmlns:a16="http://schemas.microsoft.com/office/drawing/2014/main" id="{30D1666C-1578-4B4D-9E2F-7593651EE931}"/>
              </a:ext>
            </a:extLst>
          </p:cNvPr>
          <p:cNvSpPr>
            <a:spLocks noGrp="1"/>
          </p:cNvSpPr>
          <p:nvPr>
            <p:ph type="dt" sz="half" idx="10"/>
          </p:nvPr>
        </p:nvSpPr>
        <p:spPr/>
        <p:txBody>
          <a:bodyPr/>
          <a:lstStyle/>
          <a:p>
            <a:r>
              <a:rPr lang="en-US"/>
              <a:t>Spring 2020</a:t>
            </a:r>
            <a:endParaRPr lang="en-US" dirty="0"/>
          </a:p>
        </p:txBody>
      </p:sp>
      <p:sp>
        <p:nvSpPr>
          <p:cNvPr id="7" name="Footer Placeholder 6">
            <a:extLst>
              <a:ext uri="{FF2B5EF4-FFF2-40B4-BE49-F238E27FC236}">
                <a16:creationId xmlns:a16="http://schemas.microsoft.com/office/drawing/2014/main" id="{91860BAF-CB5E-4E85-9D9B-CAAAF422F913}"/>
              </a:ext>
            </a:extLst>
          </p:cNvPr>
          <p:cNvSpPr>
            <a:spLocks noGrp="1"/>
          </p:cNvSpPr>
          <p:nvPr>
            <p:ph type="ftr" sz="quarter" idx="11"/>
          </p:nvPr>
        </p:nvSpPr>
        <p:spPr/>
        <p:txBody>
          <a:bodyPr/>
          <a:lstStyle/>
          <a:p>
            <a:r>
              <a:rPr lang="en-US"/>
              <a:t>CPSC 462  T. L. Bettens</a:t>
            </a:r>
            <a:endParaRPr lang="en-US" dirty="0"/>
          </a:p>
        </p:txBody>
      </p:sp>
      <p:sp>
        <p:nvSpPr>
          <p:cNvPr id="8" name="Slide Number Placeholder 7">
            <a:extLst>
              <a:ext uri="{FF2B5EF4-FFF2-40B4-BE49-F238E27FC236}">
                <a16:creationId xmlns:a16="http://schemas.microsoft.com/office/drawing/2014/main" id="{FE0534F5-55E8-4A46-A72D-8F17B211FB3C}"/>
              </a:ext>
            </a:extLst>
          </p:cNvPr>
          <p:cNvSpPr>
            <a:spLocks noGrp="1"/>
          </p:cNvSpPr>
          <p:nvPr>
            <p:ph type="sldNum" sz="quarter" idx="12"/>
          </p:nvPr>
        </p:nvSpPr>
        <p:spPr/>
        <p:txBody>
          <a:bodyPr/>
          <a:lstStyle/>
          <a:p>
            <a:fld id="{7FAE0778-D8E2-4E97-B7E5-02EA3F4B7C62}" type="slidenum">
              <a:rPr lang="en-US" smtClean="0"/>
              <a:t>8</a:t>
            </a:fld>
            <a:endParaRPr lang="en-US" dirty="0"/>
          </a:p>
        </p:txBody>
      </p:sp>
      <p:sp>
        <p:nvSpPr>
          <p:cNvPr id="9" name="Title 8">
            <a:extLst>
              <a:ext uri="{FF2B5EF4-FFF2-40B4-BE49-F238E27FC236}">
                <a16:creationId xmlns:a16="http://schemas.microsoft.com/office/drawing/2014/main" id="{B7ECDEA4-736E-4DA5-8D20-B4D46B136F05}"/>
              </a:ext>
            </a:extLst>
          </p:cNvPr>
          <p:cNvSpPr>
            <a:spLocks noGrp="1"/>
          </p:cNvSpPr>
          <p:nvPr>
            <p:ph type="title"/>
          </p:nvPr>
        </p:nvSpPr>
        <p:spPr/>
        <p:txBody>
          <a:bodyPr/>
          <a:lstStyle/>
          <a:p>
            <a:r>
              <a:rPr lang="en-US" dirty="0"/>
              <a:t>In Class Activity</a:t>
            </a:r>
          </a:p>
        </p:txBody>
      </p:sp>
      <p:graphicFrame>
        <p:nvGraphicFramePr>
          <p:cNvPr id="2" name="Object 1">
            <a:extLst>
              <a:ext uri="{FF2B5EF4-FFF2-40B4-BE49-F238E27FC236}">
                <a16:creationId xmlns:a16="http://schemas.microsoft.com/office/drawing/2014/main" id="{08C24571-F6B9-437E-A234-701C7128D589}"/>
              </a:ext>
            </a:extLst>
          </p:cNvPr>
          <p:cNvGraphicFramePr>
            <a:graphicFrameLocks noChangeAspect="1"/>
          </p:cNvGraphicFramePr>
          <p:nvPr>
            <p:extLst>
              <p:ext uri="{D42A27DB-BD31-4B8C-83A1-F6EECF244321}">
                <p14:modId xmlns:p14="http://schemas.microsoft.com/office/powerpoint/2010/main" val="3473046623"/>
              </p:ext>
            </p:extLst>
          </p:nvPr>
        </p:nvGraphicFramePr>
        <p:xfrm>
          <a:off x="2731429" y="2667000"/>
          <a:ext cx="3398299" cy="792163"/>
        </p:xfrm>
        <a:graphic>
          <a:graphicData uri="http://schemas.openxmlformats.org/presentationml/2006/ole">
            <mc:AlternateContent xmlns:mc="http://schemas.openxmlformats.org/markup-compatibility/2006">
              <mc:Choice xmlns:v="urn:schemas-microsoft-com:vml" Requires="v">
                <p:oleObj spid="_x0000_s6146" name="Packager Shell Object" showAsIcon="1" r:id="rId4" imgW="2091240" imgH="487080" progId="Package">
                  <p:embed/>
                </p:oleObj>
              </mc:Choice>
              <mc:Fallback>
                <p:oleObj name="Packager Shell Object" showAsIcon="1" r:id="rId4" imgW="2091240" imgH="487080" progId="Package">
                  <p:embed/>
                  <p:pic>
                    <p:nvPicPr>
                      <p:cNvPr id="0" name=""/>
                      <p:cNvPicPr/>
                      <p:nvPr/>
                    </p:nvPicPr>
                    <p:blipFill>
                      <a:blip r:embed="rId5"/>
                      <a:stretch>
                        <a:fillRect/>
                      </a:stretch>
                    </p:blipFill>
                    <p:spPr>
                      <a:xfrm>
                        <a:off x="2731429" y="2667000"/>
                        <a:ext cx="3398299" cy="792163"/>
                      </a:xfrm>
                      <a:prstGeom prst="rect">
                        <a:avLst/>
                      </a:prstGeom>
                    </p:spPr>
                  </p:pic>
                </p:oleObj>
              </mc:Fallback>
            </mc:AlternateContent>
          </a:graphicData>
        </a:graphic>
      </p:graphicFrame>
    </p:spTree>
    <p:extLst>
      <p:ext uri="{BB962C8B-B14F-4D97-AF65-F5344CB8AC3E}">
        <p14:creationId xmlns:p14="http://schemas.microsoft.com/office/powerpoint/2010/main" val="4150986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1E34B344-7B4D-47C9-BF24-19C36BE5253A}"/>
              </a:ext>
            </a:extLst>
          </p:cNvPr>
          <p:cNvSpPr>
            <a:spLocks noGrp="1"/>
          </p:cNvSpPr>
          <p:nvPr>
            <p:ph idx="1"/>
          </p:nvPr>
        </p:nvSpPr>
        <p:spPr>
          <a:xfrm>
            <a:off x="152400" y="990600"/>
            <a:ext cx="11887200" cy="5365749"/>
          </a:xfrm>
        </p:spPr>
        <p:txBody>
          <a:bodyPr numCol="1">
            <a:normAutofit/>
          </a:bodyPr>
          <a:lstStyle/>
          <a:p>
            <a:r>
              <a:rPr lang="en-US" dirty="0"/>
              <a:t>2) </a:t>
            </a:r>
            <a:r>
              <a:rPr lang="en-US" dirty="0">
                <a:solidFill>
                  <a:schemeClr val="accent6">
                    <a:lumMod val="75000"/>
                  </a:schemeClr>
                </a:solidFill>
              </a:rPr>
              <a:t>The Simple approach</a:t>
            </a:r>
          </a:p>
          <a:p>
            <a:pPr lvl="1"/>
            <a:r>
              <a:rPr lang="en-US" dirty="0"/>
              <a:t>Repeat step 1 with “</a:t>
            </a:r>
            <a:r>
              <a:rPr lang="en-US" u="sng" dirty="0"/>
              <a:t>main - simple getSupper.cpp</a:t>
            </a:r>
            <a:r>
              <a:rPr lang="en-US" dirty="0"/>
              <a:t>”</a:t>
            </a:r>
          </a:p>
          <a:p>
            <a:endParaRPr lang="en-US" dirty="0"/>
          </a:p>
          <a:p>
            <a:endParaRPr lang="en-US" dirty="0"/>
          </a:p>
          <a:p>
            <a:r>
              <a:rPr lang="en-US" dirty="0"/>
              <a:t>3) </a:t>
            </a:r>
            <a:r>
              <a:rPr lang="en-US" dirty="0">
                <a:solidFill>
                  <a:schemeClr val="accent6">
                    <a:lumMod val="75000"/>
                  </a:schemeClr>
                </a:solidFill>
              </a:rPr>
              <a:t>The One Better approach</a:t>
            </a:r>
          </a:p>
          <a:p>
            <a:pPr lvl="1"/>
            <a:r>
              <a:rPr lang="en-US" dirty="0"/>
              <a:t>Repeat step 1 with “</a:t>
            </a:r>
            <a:r>
              <a:rPr lang="en-US" u="sng" dirty="0"/>
              <a:t>main - self registering getSupper.cpp</a:t>
            </a:r>
            <a:r>
              <a:rPr lang="en-US" dirty="0"/>
              <a:t>”</a:t>
            </a:r>
          </a:p>
        </p:txBody>
      </p:sp>
      <p:sp>
        <p:nvSpPr>
          <p:cNvPr id="6" name="Date Placeholder 5">
            <a:extLst>
              <a:ext uri="{FF2B5EF4-FFF2-40B4-BE49-F238E27FC236}">
                <a16:creationId xmlns:a16="http://schemas.microsoft.com/office/drawing/2014/main" id="{30D1666C-1578-4B4D-9E2F-7593651EE931}"/>
              </a:ext>
            </a:extLst>
          </p:cNvPr>
          <p:cNvSpPr>
            <a:spLocks noGrp="1"/>
          </p:cNvSpPr>
          <p:nvPr>
            <p:ph type="dt" sz="half" idx="10"/>
          </p:nvPr>
        </p:nvSpPr>
        <p:spPr/>
        <p:txBody>
          <a:bodyPr/>
          <a:lstStyle/>
          <a:p>
            <a:r>
              <a:rPr lang="en-US"/>
              <a:t>Spring 2020</a:t>
            </a:r>
            <a:endParaRPr lang="en-US" dirty="0"/>
          </a:p>
        </p:txBody>
      </p:sp>
      <p:sp>
        <p:nvSpPr>
          <p:cNvPr id="7" name="Footer Placeholder 6">
            <a:extLst>
              <a:ext uri="{FF2B5EF4-FFF2-40B4-BE49-F238E27FC236}">
                <a16:creationId xmlns:a16="http://schemas.microsoft.com/office/drawing/2014/main" id="{91860BAF-CB5E-4E85-9D9B-CAAAF422F913}"/>
              </a:ext>
            </a:extLst>
          </p:cNvPr>
          <p:cNvSpPr>
            <a:spLocks noGrp="1"/>
          </p:cNvSpPr>
          <p:nvPr>
            <p:ph type="ftr" sz="quarter" idx="11"/>
          </p:nvPr>
        </p:nvSpPr>
        <p:spPr/>
        <p:txBody>
          <a:bodyPr/>
          <a:lstStyle/>
          <a:p>
            <a:r>
              <a:rPr lang="en-US"/>
              <a:t>CPSC 462  T. L. Bettens</a:t>
            </a:r>
            <a:endParaRPr lang="en-US" dirty="0"/>
          </a:p>
        </p:txBody>
      </p:sp>
      <p:sp>
        <p:nvSpPr>
          <p:cNvPr id="8" name="Slide Number Placeholder 7">
            <a:extLst>
              <a:ext uri="{FF2B5EF4-FFF2-40B4-BE49-F238E27FC236}">
                <a16:creationId xmlns:a16="http://schemas.microsoft.com/office/drawing/2014/main" id="{FE0534F5-55E8-4A46-A72D-8F17B211FB3C}"/>
              </a:ext>
            </a:extLst>
          </p:cNvPr>
          <p:cNvSpPr>
            <a:spLocks noGrp="1"/>
          </p:cNvSpPr>
          <p:nvPr>
            <p:ph type="sldNum" sz="quarter" idx="12"/>
          </p:nvPr>
        </p:nvSpPr>
        <p:spPr/>
        <p:txBody>
          <a:bodyPr/>
          <a:lstStyle/>
          <a:p>
            <a:fld id="{7FAE0778-D8E2-4E97-B7E5-02EA3F4B7C62}" type="slidenum">
              <a:rPr lang="en-US" smtClean="0"/>
              <a:t>9</a:t>
            </a:fld>
            <a:endParaRPr lang="en-US" dirty="0"/>
          </a:p>
        </p:txBody>
      </p:sp>
      <p:sp>
        <p:nvSpPr>
          <p:cNvPr id="9" name="Title 8">
            <a:extLst>
              <a:ext uri="{FF2B5EF4-FFF2-40B4-BE49-F238E27FC236}">
                <a16:creationId xmlns:a16="http://schemas.microsoft.com/office/drawing/2014/main" id="{B7ECDEA4-736E-4DA5-8D20-B4D46B136F05}"/>
              </a:ext>
            </a:extLst>
          </p:cNvPr>
          <p:cNvSpPr>
            <a:spLocks noGrp="1"/>
          </p:cNvSpPr>
          <p:nvPr>
            <p:ph type="title"/>
          </p:nvPr>
        </p:nvSpPr>
        <p:spPr/>
        <p:txBody>
          <a:bodyPr/>
          <a:lstStyle/>
          <a:p>
            <a:r>
              <a:rPr lang="en-US" dirty="0"/>
              <a:t>In Class Activity</a:t>
            </a:r>
          </a:p>
        </p:txBody>
      </p:sp>
      <p:graphicFrame>
        <p:nvGraphicFramePr>
          <p:cNvPr id="2" name="Object 1">
            <a:extLst>
              <a:ext uri="{FF2B5EF4-FFF2-40B4-BE49-F238E27FC236}">
                <a16:creationId xmlns:a16="http://schemas.microsoft.com/office/drawing/2014/main" id="{A4716BE7-98DF-4A7C-85F4-A4AF42CFAE11}"/>
              </a:ext>
            </a:extLst>
          </p:cNvPr>
          <p:cNvGraphicFramePr>
            <a:graphicFrameLocks noChangeAspect="1"/>
          </p:cNvGraphicFramePr>
          <p:nvPr>
            <p:extLst>
              <p:ext uri="{D42A27DB-BD31-4B8C-83A1-F6EECF244321}">
                <p14:modId xmlns:p14="http://schemas.microsoft.com/office/powerpoint/2010/main" val="1648827899"/>
              </p:ext>
            </p:extLst>
          </p:nvPr>
        </p:nvGraphicFramePr>
        <p:xfrm>
          <a:off x="1905000" y="4343400"/>
          <a:ext cx="4481162" cy="989012"/>
        </p:xfrm>
        <a:graphic>
          <a:graphicData uri="http://schemas.openxmlformats.org/presentationml/2006/ole">
            <mc:AlternateContent xmlns:mc="http://schemas.openxmlformats.org/markup-compatibility/2006">
              <mc:Choice xmlns:v="urn:schemas-microsoft-com:vml" Requires="v">
                <p:oleObj spid="_x0000_s7170" name="Packager Shell Object" showAsIcon="1" r:id="rId4" imgW="2208600" imgH="487080" progId="Package">
                  <p:embed/>
                </p:oleObj>
              </mc:Choice>
              <mc:Fallback>
                <p:oleObj name="Packager Shell Object" showAsIcon="1" r:id="rId4" imgW="2208600" imgH="487080" progId="Package">
                  <p:embed/>
                  <p:pic>
                    <p:nvPicPr>
                      <p:cNvPr id="0" name=""/>
                      <p:cNvPicPr/>
                      <p:nvPr/>
                    </p:nvPicPr>
                    <p:blipFill>
                      <a:blip r:embed="rId5"/>
                      <a:stretch>
                        <a:fillRect/>
                      </a:stretch>
                    </p:blipFill>
                    <p:spPr>
                      <a:xfrm>
                        <a:off x="1905000" y="4343400"/>
                        <a:ext cx="4481162" cy="989012"/>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DA60EB86-5B69-4D4E-902F-C5463F1CFCD0}"/>
              </a:ext>
            </a:extLst>
          </p:cNvPr>
          <p:cNvGraphicFramePr>
            <a:graphicFrameLocks noChangeAspect="1"/>
          </p:cNvGraphicFramePr>
          <p:nvPr>
            <p:extLst>
              <p:ext uri="{D42A27DB-BD31-4B8C-83A1-F6EECF244321}">
                <p14:modId xmlns:p14="http://schemas.microsoft.com/office/powerpoint/2010/main" val="1312392801"/>
              </p:ext>
            </p:extLst>
          </p:nvPr>
        </p:nvGraphicFramePr>
        <p:xfrm>
          <a:off x="2209800" y="2133600"/>
          <a:ext cx="4058204" cy="1143000"/>
        </p:xfrm>
        <a:graphic>
          <a:graphicData uri="http://schemas.openxmlformats.org/presentationml/2006/ole">
            <mc:AlternateContent xmlns:mc="http://schemas.openxmlformats.org/markup-compatibility/2006">
              <mc:Choice xmlns:v="urn:schemas-microsoft-com:vml" Requires="v">
                <p:oleObj spid="_x0000_s7171" name="Packager Shell Object" showAsIcon="1" r:id="rId6" imgW="1730880" imgH="487080" progId="Package">
                  <p:embed/>
                </p:oleObj>
              </mc:Choice>
              <mc:Fallback>
                <p:oleObj name="Packager Shell Object" showAsIcon="1" r:id="rId6" imgW="1730880" imgH="487080" progId="Package">
                  <p:embed/>
                  <p:pic>
                    <p:nvPicPr>
                      <p:cNvPr id="0" name=""/>
                      <p:cNvPicPr/>
                      <p:nvPr/>
                    </p:nvPicPr>
                    <p:blipFill>
                      <a:blip r:embed="rId7"/>
                      <a:stretch>
                        <a:fillRect/>
                      </a:stretch>
                    </p:blipFill>
                    <p:spPr>
                      <a:xfrm>
                        <a:off x="2209800" y="2133600"/>
                        <a:ext cx="4058204" cy="1143000"/>
                      </a:xfrm>
                      <a:prstGeom prst="rect">
                        <a:avLst/>
                      </a:prstGeom>
                    </p:spPr>
                  </p:pic>
                </p:oleObj>
              </mc:Fallback>
            </mc:AlternateContent>
          </a:graphicData>
        </a:graphic>
      </p:graphicFrame>
    </p:spTree>
    <p:extLst>
      <p:ext uri="{BB962C8B-B14F-4D97-AF65-F5344CB8AC3E}">
        <p14:creationId xmlns:p14="http://schemas.microsoft.com/office/powerpoint/2010/main" val="42067121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957</TotalTime>
  <Words>746</Words>
  <Application>Microsoft Office PowerPoint</Application>
  <PresentationFormat>Widescreen</PresentationFormat>
  <Paragraphs>95</Paragraphs>
  <Slides>9</Slides>
  <Notes>2</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3" baseType="lpstr">
      <vt:lpstr>Arial</vt:lpstr>
      <vt:lpstr>Calibri</vt:lpstr>
      <vt:lpstr>Office Theme</vt:lpstr>
      <vt:lpstr>Package</vt:lpstr>
      <vt:lpstr>CPSC 462 – Software Design</vt:lpstr>
      <vt:lpstr>PowerPoint Presentation</vt:lpstr>
      <vt:lpstr>Definitions Can someone explain Polymorphism to me?</vt:lpstr>
      <vt:lpstr>Definitions Can someone explain Polymorphism to me?</vt:lpstr>
      <vt:lpstr>Definitions Can someone explain Polymorphism to me?</vt:lpstr>
      <vt:lpstr>Definitions Can someone explain Polymorphism to me?</vt:lpstr>
      <vt:lpstr>Has-a vs Is-a</vt:lpstr>
      <vt:lpstr>In Class Activity</vt:lpstr>
      <vt:lpstr>In Class Activity</vt:lpstr>
    </vt:vector>
  </TitlesOfParts>
  <Company>California State University, Fullerton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Vu, Mishu</dc:creator>
  <cp:lastModifiedBy>Thomas Bettens</cp:lastModifiedBy>
  <cp:revision>152</cp:revision>
  <cp:lastPrinted>2018-08-23T05:48:58Z</cp:lastPrinted>
  <dcterms:created xsi:type="dcterms:W3CDTF">2011-10-03T21:31:14Z</dcterms:created>
  <dcterms:modified xsi:type="dcterms:W3CDTF">2020-03-11T22:13:38Z</dcterms:modified>
</cp:coreProperties>
</file>